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96" r:id="rId9"/>
    <p:sldId id="263" r:id="rId10"/>
    <p:sldId id="264" r:id="rId11"/>
    <p:sldId id="281" r:id="rId12"/>
    <p:sldId id="295" r:id="rId13"/>
    <p:sldId id="283" r:id="rId14"/>
    <p:sldId id="284" r:id="rId15"/>
    <p:sldId id="266" r:id="rId16"/>
    <p:sldId id="297" r:id="rId17"/>
    <p:sldId id="287" r:id="rId18"/>
    <p:sldId id="286" r:id="rId19"/>
    <p:sldId id="291" r:id="rId20"/>
    <p:sldId id="288" r:id="rId21"/>
    <p:sldId id="267" r:id="rId22"/>
    <p:sldId id="268" r:id="rId23"/>
    <p:sldId id="293" r:id="rId24"/>
    <p:sldId id="269" r:id="rId25"/>
    <p:sldId id="292" r:id="rId26"/>
    <p:sldId id="294" r:id="rId27"/>
    <p:sldId id="270" r:id="rId28"/>
    <p:sldId id="271" r:id="rId29"/>
    <p:sldId id="272" r:id="rId30"/>
    <p:sldId id="273" r:id="rId31"/>
    <p:sldId id="276" r:id="rId32"/>
    <p:sldId id="277" r:id="rId33"/>
    <p:sldId id="278" r:id="rId34"/>
    <p:sldId id="279" r:id="rId35"/>
    <p:sldId id="280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3930"/>
    <a:srgbClr val="B5E704"/>
    <a:srgbClr val="06E878"/>
    <a:srgbClr val="2592E9"/>
    <a:srgbClr val="3F5D3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215"/>
    <p:restoredTop sz="91551"/>
  </p:normalViewPr>
  <p:slideViewPr>
    <p:cSldViewPr snapToGrid="0" snapToObjects="1">
      <p:cViewPr varScale="1">
        <p:scale>
          <a:sx n="102" d="100"/>
          <a:sy n="102" d="100"/>
        </p:scale>
        <p:origin x="1256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8AF280-F48D-2F4C-9276-E08D553E9882}" type="datetimeFigureOut">
              <a:rPr kumimoji="1" lang="zh-TW" altLang="en-US" smtClean="0"/>
              <a:t>2026/6/4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8DCFDD-1645-DE43-9688-C874CEFA52B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91126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8DCFDD-1645-DE43-9688-C874CEFA52B4}" type="slidenum">
              <a:rPr kumimoji="1" lang="zh-TW" altLang="en-US" smtClean="0"/>
              <a:t>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613131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8DCFDD-1645-DE43-9688-C874CEFA52B4}" type="slidenum">
              <a:rPr kumimoji="1" lang="zh-TW" altLang="en-US" smtClean="0"/>
              <a:t>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398837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8DCFDD-1645-DE43-9688-C874CEFA52B4}" type="slidenum">
              <a:rPr kumimoji="1" lang="zh-TW" altLang="en-US" smtClean="0"/>
              <a:t>25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278011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furkanima/worldwide-travel-cities-ratings-and-climate" TargetMode="Externa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C98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8412480" y="548640"/>
            <a:ext cx="0" cy="5760720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1645920"/>
            <a:ext cx="7315200" cy="1645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6400" b="0">
                <a:solidFill>
                  <a:srgbClr val="FFFFFF"/>
                </a:solidFill>
                <a:latin typeface="標楷體"/>
              </a:rPr>
              <a:t>環遊世界城市地圖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0">
                <a:solidFill>
                  <a:srgbClr val="F5F2E8"/>
                </a:solidFill>
                <a:latin typeface="標楷體"/>
              </a:rPr>
              <a:t>以旅遊特徵分群打造個人化旅行路線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0" y="553212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軟正黑體"/>
              </a:rPr>
              <a:t>江至美　江慶栩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869680" y="6126480"/>
            <a:ext cx="2743200" cy="0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7C9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972800" cy="9143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600" b="0">
                <a:solidFill>
                  <a:srgbClr val="FFFFFF"/>
                </a:solidFill>
                <a:latin typeface="標楷體"/>
              </a:rPr>
              <a:t>目錄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20240"/>
            <a:ext cx="914400" cy="914400"/>
          </a:xfrm>
          <a:prstGeom prst="rect">
            <a:avLst/>
          </a:prstGeom>
          <a:solidFill>
            <a:srgbClr val="3F5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400" b="0">
                <a:solidFill>
                  <a:srgbClr val="FFFFFF"/>
                </a:solidFill>
                <a:latin typeface="標楷體"/>
              </a:rPr>
              <a:t>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965960"/>
            <a:ext cx="43891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微軟正黑體"/>
              </a:rPr>
              <a:t>研究動機與目的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737360" y="2834640"/>
            <a:ext cx="4297680" cy="0"/>
          </a:xfrm>
          <a:prstGeom prst="line">
            <a:avLst/>
          </a:prstGeom>
          <a:ln w="9525">
            <a:solidFill>
              <a:srgbClr val="7C98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309360" y="1920240"/>
            <a:ext cx="914400" cy="914400"/>
          </a:xfrm>
          <a:prstGeom prst="rect">
            <a:avLst/>
          </a:prstGeom>
          <a:solidFill>
            <a:srgbClr val="3F5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9360" y="192024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400" b="0">
                <a:solidFill>
                  <a:srgbClr val="FFFFFF"/>
                </a:solidFill>
                <a:latin typeface="標楷體"/>
              </a:rPr>
              <a:t>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2048143"/>
            <a:ext cx="438912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zh-TW" altLang="en-US" sz="2200" b="1" dirty="0">
                <a:solidFill>
                  <a:srgbClr val="1A1A1A"/>
                </a:solidFill>
                <a:latin typeface="微軟正黑體"/>
              </a:rPr>
              <a:t>資料來源及資料處理說明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406640" y="2834640"/>
            <a:ext cx="4297680" cy="0"/>
          </a:xfrm>
          <a:prstGeom prst="line">
            <a:avLst/>
          </a:prstGeom>
          <a:ln w="9525">
            <a:solidFill>
              <a:srgbClr val="7C98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640080" y="3429000"/>
            <a:ext cx="914400" cy="914400"/>
          </a:xfrm>
          <a:prstGeom prst="rect">
            <a:avLst/>
          </a:prstGeom>
          <a:solidFill>
            <a:srgbClr val="3F5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42900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400" b="0">
                <a:solidFill>
                  <a:srgbClr val="FFFFFF"/>
                </a:solidFill>
                <a:latin typeface="標楷體"/>
              </a:rPr>
              <a:t>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3556903"/>
            <a:ext cx="438912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zh-TW" altLang="en-US" sz="2200" b="1" dirty="0">
                <a:solidFill>
                  <a:srgbClr val="1A1A1A"/>
                </a:solidFill>
                <a:latin typeface="微軟正黑體"/>
              </a:rPr>
              <a:t>資料採礦操作流程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737360" y="4343400"/>
            <a:ext cx="4297680" cy="0"/>
          </a:xfrm>
          <a:prstGeom prst="line">
            <a:avLst/>
          </a:prstGeom>
          <a:ln w="9525">
            <a:solidFill>
              <a:srgbClr val="7C98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309360" y="3429000"/>
            <a:ext cx="914400" cy="914400"/>
          </a:xfrm>
          <a:prstGeom prst="rect">
            <a:avLst/>
          </a:prstGeom>
          <a:solidFill>
            <a:srgbClr val="3F5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09360" y="342900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400" b="0">
                <a:solidFill>
                  <a:srgbClr val="FFFFFF"/>
                </a:solidFill>
                <a:latin typeface="標楷體"/>
              </a:rPr>
              <a:t>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3556903"/>
            <a:ext cx="438912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zh-TW" altLang="en-US" sz="2200" b="1" dirty="0">
                <a:solidFill>
                  <a:srgbClr val="1A1A1A"/>
                </a:solidFill>
                <a:latin typeface="微軟正黑體"/>
              </a:rPr>
              <a:t>資料採礦結果說明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406640" y="4343400"/>
            <a:ext cx="4297680" cy="0"/>
          </a:xfrm>
          <a:prstGeom prst="line">
            <a:avLst/>
          </a:prstGeom>
          <a:ln w="9525">
            <a:solidFill>
              <a:srgbClr val="7C98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640080" y="4937760"/>
            <a:ext cx="914400" cy="914400"/>
          </a:xfrm>
          <a:prstGeom prst="rect">
            <a:avLst/>
          </a:prstGeom>
          <a:solidFill>
            <a:srgbClr val="3F5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493776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400" b="0">
                <a:solidFill>
                  <a:srgbClr val="FFFFFF"/>
                </a:solidFill>
                <a:latin typeface="標楷體"/>
              </a:rPr>
              <a:t>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5065663"/>
            <a:ext cx="438912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zh-TW" altLang="en-US" sz="2200" b="1" dirty="0">
                <a:solidFill>
                  <a:srgbClr val="1A1A1A"/>
                </a:solidFill>
                <a:latin typeface="微軟正黑體"/>
              </a:rPr>
              <a:t>採礦過程中遇到的問題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737360" y="5852160"/>
            <a:ext cx="4297680" cy="0"/>
          </a:xfrm>
          <a:prstGeom prst="line">
            <a:avLst/>
          </a:prstGeom>
          <a:ln w="9525">
            <a:solidFill>
              <a:srgbClr val="7C98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6309360" y="4937760"/>
            <a:ext cx="914400" cy="914400"/>
          </a:xfrm>
          <a:prstGeom prst="rect">
            <a:avLst/>
          </a:prstGeom>
          <a:solidFill>
            <a:srgbClr val="3F5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09360" y="493776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400" b="0">
                <a:solidFill>
                  <a:srgbClr val="FFFFFF"/>
                </a:solidFill>
                <a:latin typeface="標楷體"/>
              </a:rPr>
              <a:t>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4983480"/>
            <a:ext cx="43891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微軟正黑體"/>
              </a:rPr>
              <a:t>結論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406640" y="5852160"/>
            <a:ext cx="4297680" cy="0"/>
          </a:xfrm>
          <a:prstGeom prst="line">
            <a:avLst/>
          </a:prstGeom>
          <a:ln w="9525">
            <a:solidFill>
              <a:srgbClr val="7C98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C98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9728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0" b="0">
                <a:solidFill>
                  <a:srgbClr val="FFFFFF"/>
                </a:solidFill>
                <a:latin typeface="標楷體"/>
              </a:rPr>
              <a:t>研究動機與目的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2926080"/>
            <a:ext cx="6400800" cy="36576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r"/>
            <a:r>
              <a:rPr sz="32000" b="0">
                <a:solidFill>
                  <a:srgbClr val="A8C0A3"/>
                </a:solidFill>
                <a:latin typeface="標楷體"/>
              </a:rPr>
              <a:t>壹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0" y="6355080"/>
            <a:ext cx="3840480" cy="0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7C9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972800" cy="9143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600" b="0">
                <a:solidFill>
                  <a:srgbClr val="FFFFFF"/>
                </a:solidFill>
                <a:latin typeface="標楷體"/>
              </a:rPr>
              <a:t>研究動機</a:t>
            </a:r>
          </a:p>
        </p:txBody>
      </p: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D543CE07-A1E2-04B3-295A-1336EA10AF41}"/>
              </a:ext>
            </a:extLst>
          </p:cNvPr>
          <p:cNvGrpSpPr/>
          <p:nvPr/>
        </p:nvGrpSpPr>
        <p:grpSpPr>
          <a:xfrm>
            <a:off x="640080" y="1508760"/>
            <a:ext cx="3566160" cy="4800600"/>
            <a:chOff x="640080" y="4572000"/>
            <a:chExt cx="3566160" cy="1737360"/>
          </a:xfrm>
        </p:grpSpPr>
        <p:sp>
          <p:nvSpPr>
            <p:cNvPr id="7" name="Rectangle 6"/>
            <p:cNvSpPr/>
            <p:nvPr/>
          </p:nvSpPr>
          <p:spPr>
            <a:xfrm>
              <a:off x="640080" y="4572000"/>
              <a:ext cx="3566160" cy="1737360"/>
            </a:xfrm>
            <a:prstGeom prst="rect">
              <a:avLst/>
            </a:prstGeom>
            <a:solidFill>
              <a:srgbClr val="7C987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640080" y="4572000"/>
              <a:ext cx="3566160" cy="73152"/>
            </a:xfrm>
            <a:prstGeom prst="rect">
              <a:avLst/>
            </a:prstGeom>
            <a:solidFill>
              <a:srgbClr val="3F5D3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914400" y="4917814"/>
              <a:ext cx="3200400" cy="2227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4000" b="1">
                  <a:solidFill>
                    <a:srgbClr val="FFFFFF"/>
                  </a:solidFill>
                  <a:latin typeface="標楷體"/>
                </a:rPr>
                <a:t>資訊雜訊</a:t>
              </a:r>
            </a:p>
          </p:txBody>
        </p:sp>
        <p:cxnSp>
          <p:nvCxnSpPr>
            <p:cNvPr id="10" name="Connector 9"/>
            <p:cNvCxnSpPr/>
            <p:nvPr/>
          </p:nvCxnSpPr>
          <p:spPr>
            <a:xfrm>
              <a:off x="914400" y="5440680"/>
              <a:ext cx="822960" cy="0"/>
            </a:xfrm>
            <a:prstGeom prst="line">
              <a:avLst/>
            </a:prstGeom>
            <a:ln w="9525">
              <a:solidFill>
                <a:srgbClr val="F5F2E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914400" y="5577840"/>
              <a:ext cx="3200400" cy="10024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b="0">
                  <a:solidFill>
                    <a:srgbClr val="F5F2E8"/>
                  </a:solidFill>
                  <a:latin typeface="微軟正黑體"/>
                </a:rPr>
                <a:t>缺乏量化基礎，仰賴主觀印象</a:t>
              </a:r>
            </a:p>
          </p:txBody>
        </p:sp>
      </p:grp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3C590D3A-349B-C814-803F-5E37FE1031AC}"/>
              </a:ext>
            </a:extLst>
          </p:cNvPr>
          <p:cNvGrpSpPr/>
          <p:nvPr/>
        </p:nvGrpSpPr>
        <p:grpSpPr>
          <a:xfrm>
            <a:off x="4416552" y="1508760"/>
            <a:ext cx="3566160" cy="4800600"/>
            <a:chOff x="4416552" y="4572000"/>
            <a:chExt cx="3566160" cy="1737360"/>
          </a:xfrm>
        </p:grpSpPr>
        <p:sp>
          <p:nvSpPr>
            <p:cNvPr id="12" name="Rectangle 11"/>
            <p:cNvSpPr/>
            <p:nvPr/>
          </p:nvSpPr>
          <p:spPr>
            <a:xfrm>
              <a:off x="4416552" y="4572000"/>
              <a:ext cx="3566160" cy="1737360"/>
            </a:xfrm>
            <a:prstGeom prst="rect">
              <a:avLst/>
            </a:prstGeom>
            <a:solidFill>
              <a:srgbClr val="7C987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416552" y="4572000"/>
              <a:ext cx="3566160" cy="73152"/>
            </a:xfrm>
            <a:prstGeom prst="rect">
              <a:avLst/>
            </a:prstGeom>
            <a:solidFill>
              <a:srgbClr val="3F5D3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690872" y="4917814"/>
              <a:ext cx="3200400" cy="2227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4000" b="1">
                  <a:solidFill>
                    <a:srgbClr val="FFFFFF"/>
                  </a:solidFill>
                  <a:latin typeface="標楷體"/>
                </a:rPr>
                <a:t>預算迷思</a:t>
              </a:r>
            </a:p>
          </p:txBody>
        </p:sp>
        <p:cxnSp>
          <p:nvCxnSpPr>
            <p:cNvPr id="15" name="Connector 14"/>
            <p:cNvCxnSpPr/>
            <p:nvPr/>
          </p:nvCxnSpPr>
          <p:spPr>
            <a:xfrm>
              <a:off x="4690872" y="5440680"/>
              <a:ext cx="822960" cy="0"/>
            </a:xfrm>
            <a:prstGeom prst="line">
              <a:avLst/>
            </a:prstGeom>
            <a:ln w="9525">
              <a:solidFill>
                <a:srgbClr val="F5F2E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4690872" y="5577840"/>
              <a:ext cx="3200400" cy="20049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b="0">
                  <a:solidFill>
                    <a:srgbClr val="F5F2E8"/>
                  </a:solidFill>
                  <a:latin typeface="微軟正黑體"/>
                </a:rPr>
                <a:t>不知道平價預算能換到什麼層級的世界</a:t>
              </a:r>
            </a:p>
          </p:txBody>
        </p:sp>
      </p:grp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4F2EBBD3-6A55-1020-67C7-2840FEC014A8}"/>
              </a:ext>
            </a:extLst>
          </p:cNvPr>
          <p:cNvGrpSpPr/>
          <p:nvPr/>
        </p:nvGrpSpPr>
        <p:grpSpPr>
          <a:xfrm>
            <a:off x="8193023" y="1508760"/>
            <a:ext cx="3566160" cy="4800600"/>
            <a:chOff x="8193023" y="4572000"/>
            <a:chExt cx="3566160" cy="1737360"/>
          </a:xfrm>
        </p:grpSpPr>
        <p:sp>
          <p:nvSpPr>
            <p:cNvPr id="17" name="Rectangle 16"/>
            <p:cNvSpPr/>
            <p:nvPr/>
          </p:nvSpPr>
          <p:spPr>
            <a:xfrm>
              <a:off x="8193023" y="4572000"/>
              <a:ext cx="3566160" cy="1737360"/>
            </a:xfrm>
            <a:prstGeom prst="rect">
              <a:avLst/>
            </a:prstGeom>
            <a:solidFill>
              <a:srgbClr val="7C987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8193023" y="4572000"/>
              <a:ext cx="3566160" cy="73152"/>
            </a:xfrm>
            <a:prstGeom prst="rect">
              <a:avLst/>
            </a:prstGeom>
            <a:solidFill>
              <a:srgbClr val="3F5D3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8467344" y="4917814"/>
              <a:ext cx="3200400" cy="2227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4000" b="1">
                  <a:solidFill>
                    <a:srgbClr val="FFFFFF"/>
                  </a:solidFill>
                  <a:latin typeface="標楷體"/>
                </a:rPr>
                <a:t>替代難辨</a:t>
              </a:r>
            </a:p>
          </p:txBody>
        </p:sp>
        <p:cxnSp>
          <p:nvCxnSpPr>
            <p:cNvPr id="20" name="Connector 19"/>
            <p:cNvCxnSpPr/>
            <p:nvPr/>
          </p:nvCxnSpPr>
          <p:spPr>
            <a:xfrm>
              <a:off x="8467344" y="5440680"/>
              <a:ext cx="822959" cy="0"/>
            </a:xfrm>
            <a:prstGeom prst="line">
              <a:avLst/>
            </a:prstGeom>
            <a:ln w="9525">
              <a:solidFill>
                <a:srgbClr val="F5F2E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8467344" y="5577840"/>
              <a:ext cx="3200400" cy="20049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b="0">
                  <a:solidFill>
                    <a:srgbClr val="F5F2E8"/>
                  </a:solidFill>
                  <a:latin typeface="微軟正黑體"/>
                </a:rPr>
                <a:t>不知道哪些城市能彼此替代成為選項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7C9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972800" cy="9143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600" b="0">
                <a:solidFill>
                  <a:srgbClr val="FFFFFF"/>
                </a:solidFill>
                <a:latin typeface="標楷體"/>
              </a:rPr>
              <a:t>研究目的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356616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7C9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68680" y="2057400"/>
            <a:ext cx="731520" cy="731520"/>
          </a:xfrm>
          <a:prstGeom prst="rect">
            <a:avLst/>
          </a:prstGeom>
          <a:solidFill>
            <a:srgbClr val="3F5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176939"/>
            <a:ext cx="73152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zh-TW" altLang="en-US" sz="3200">
                <a:solidFill>
                  <a:srgbClr val="FFFFFF"/>
                </a:solidFill>
                <a:latin typeface="標楷體"/>
              </a:rPr>
              <a:t>一</a:t>
            </a:r>
            <a:endParaRPr sz="3200" b="0">
              <a:solidFill>
                <a:srgbClr val="FFFFFF"/>
              </a:solidFill>
              <a:latin typeface="標楷體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2926080"/>
            <a:ext cx="3200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微軟正黑體"/>
              </a:rPr>
              <a:t>整理分析全球觀光供給輪廓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68680" y="3703320"/>
            <a:ext cx="868680" cy="0"/>
          </a:xfrm>
          <a:prstGeom prst="line">
            <a:avLst/>
          </a:prstGeom>
          <a:ln w="12700">
            <a:solidFill>
              <a:srgbClr val="7C98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416552" y="1828800"/>
            <a:ext cx="356616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7C9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45152" y="2057400"/>
            <a:ext cx="731520" cy="731520"/>
          </a:xfrm>
          <a:prstGeom prst="rect">
            <a:avLst/>
          </a:prstGeom>
          <a:solidFill>
            <a:srgbClr val="3F5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45152" y="2176939"/>
            <a:ext cx="73152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zh-TW" altLang="en-US" sz="3200">
                <a:solidFill>
                  <a:srgbClr val="FFFFFF"/>
                </a:solidFill>
                <a:latin typeface="標楷體"/>
              </a:rPr>
              <a:t>二</a:t>
            </a:r>
            <a:endParaRPr sz="3200" b="0">
              <a:solidFill>
                <a:srgbClr val="FFFFFF"/>
              </a:solidFill>
              <a:latin typeface="標楷體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645152" y="2926080"/>
            <a:ext cx="3200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微軟正黑體"/>
              </a:rPr>
              <a:t>以 K-Means 找出旅遊類型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645152" y="3703320"/>
            <a:ext cx="868680" cy="0"/>
          </a:xfrm>
          <a:prstGeom prst="line">
            <a:avLst/>
          </a:prstGeom>
          <a:ln w="12700">
            <a:solidFill>
              <a:srgbClr val="7C98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8193023" y="1828800"/>
            <a:ext cx="356616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7C9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421624" y="2057400"/>
            <a:ext cx="731520" cy="731520"/>
          </a:xfrm>
          <a:prstGeom prst="rect">
            <a:avLst/>
          </a:prstGeom>
          <a:solidFill>
            <a:srgbClr val="3F5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21624" y="2176939"/>
            <a:ext cx="73152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zh-TW" altLang="en-US" sz="3200">
                <a:solidFill>
                  <a:srgbClr val="FFFFFF"/>
                </a:solidFill>
                <a:latin typeface="標楷體"/>
              </a:rPr>
              <a:t>三</a:t>
            </a:r>
            <a:endParaRPr sz="3200" b="0">
              <a:solidFill>
                <a:srgbClr val="FFFFFF"/>
              </a:solidFill>
              <a:latin typeface="標楷體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421624" y="2926080"/>
            <a:ext cx="3200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微軟正黑體"/>
              </a:rPr>
              <a:t>建立四種旅遊城市原型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421624" y="3703320"/>
            <a:ext cx="868679" cy="0"/>
          </a:xfrm>
          <a:prstGeom prst="line">
            <a:avLst/>
          </a:prstGeom>
          <a:ln w="12700">
            <a:solidFill>
              <a:srgbClr val="7C98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2560320" y="4023360"/>
            <a:ext cx="356616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7C9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788920" y="4251960"/>
            <a:ext cx="731520" cy="731520"/>
          </a:xfrm>
          <a:prstGeom prst="rect">
            <a:avLst/>
          </a:prstGeom>
          <a:solidFill>
            <a:srgbClr val="3F5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788920" y="4371499"/>
            <a:ext cx="73152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zh-TW" altLang="en-US" sz="3200" b="0">
                <a:solidFill>
                  <a:srgbClr val="FFFFFF"/>
                </a:solidFill>
                <a:latin typeface="標楷體"/>
              </a:rPr>
              <a:t>四</a:t>
            </a:r>
            <a:endParaRPr sz="3200" b="0">
              <a:solidFill>
                <a:srgbClr val="FFFFFF"/>
              </a:solidFill>
              <a:latin typeface="標楷體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788920" y="5120640"/>
            <a:ext cx="3200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微軟正黑體"/>
              </a:rPr>
              <a:t>結合預算等級交叉分析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788920" y="5897880"/>
            <a:ext cx="868680" cy="0"/>
          </a:xfrm>
          <a:prstGeom prst="line">
            <a:avLst/>
          </a:prstGeom>
          <a:ln w="12700">
            <a:solidFill>
              <a:srgbClr val="7C98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6336792" y="4023360"/>
            <a:ext cx="356616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7C9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565392" y="4251960"/>
            <a:ext cx="731520" cy="731520"/>
          </a:xfrm>
          <a:prstGeom prst="rect">
            <a:avLst/>
          </a:prstGeom>
          <a:solidFill>
            <a:srgbClr val="3F5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65392" y="4371499"/>
            <a:ext cx="73152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zh-TW" altLang="en-US" sz="3200">
                <a:solidFill>
                  <a:srgbClr val="FFFFFF"/>
                </a:solidFill>
                <a:latin typeface="標楷體"/>
              </a:rPr>
              <a:t>五</a:t>
            </a:r>
            <a:endParaRPr sz="3200" b="0">
              <a:solidFill>
                <a:srgbClr val="FFFFFF"/>
              </a:solidFill>
              <a:latin typeface="標楷體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565392" y="5120640"/>
            <a:ext cx="3200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微軟正黑體"/>
              </a:rPr>
              <a:t>提出個人化路線規劃建議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565392" y="5897880"/>
            <a:ext cx="868679" cy="0"/>
          </a:xfrm>
          <a:prstGeom prst="line">
            <a:avLst/>
          </a:prstGeom>
          <a:ln w="12700">
            <a:solidFill>
              <a:srgbClr val="7C98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C98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972800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TW" altLang="en-US" sz="6000" b="0" dirty="0">
                <a:solidFill>
                  <a:srgbClr val="FFFFFF"/>
                </a:solidFill>
                <a:latin typeface="標楷體"/>
              </a:rPr>
              <a:t>資料來源及資料處理說明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2926080"/>
            <a:ext cx="6400800" cy="36576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r"/>
            <a:r>
              <a:rPr sz="32000" b="0">
                <a:solidFill>
                  <a:srgbClr val="A8C0A3"/>
                </a:solidFill>
                <a:latin typeface="標楷體"/>
              </a:rPr>
              <a:t>貳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0" y="6355080"/>
            <a:ext cx="3840480" cy="0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7C9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972800" cy="9143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600" b="0">
                <a:solidFill>
                  <a:srgbClr val="FFFFFF"/>
                </a:solidFill>
                <a:latin typeface="標楷體"/>
              </a:rPr>
              <a:t>資料來源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2651760" cy="18288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2651760" cy="91440"/>
          </a:xfrm>
          <a:prstGeom prst="rect">
            <a:avLst/>
          </a:prstGeom>
          <a:solidFill>
            <a:srgbClr val="7C9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265176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200" b="1">
                <a:solidFill>
                  <a:srgbClr val="3F5D3D"/>
                </a:solidFill>
                <a:latin typeface="Georgia"/>
              </a:rPr>
              <a:t>560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微軟正黑體"/>
              </a:rPr>
              <a:t>個旅遊城市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1828800"/>
            <a:ext cx="2651760" cy="18288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74720" y="1828800"/>
            <a:ext cx="2651760" cy="91440"/>
          </a:xfrm>
          <a:prstGeom prst="rect">
            <a:avLst/>
          </a:prstGeom>
          <a:solidFill>
            <a:srgbClr val="7C9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74720" y="2057400"/>
            <a:ext cx="265176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200" b="1">
                <a:solidFill>
                  <a:srgbClr val="3F5D3D"/>
                </a:solidFill>
                <a:latin typeface="Georgia"/>
              </a:rPr>
              <a:t>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10896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微軟正黑體"/>
              </a:rPr>
              <a:t>個資料欄位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840480"/>
            <a:ext cx="2651760" cy="18288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3840480"/>
            <a:ext cx="2651760" cy="91440"/>
          </a:xfrm>
          <a:prstGeom prst="rect">
            <a:avLst/>
          </a:prstGeom>
          <a:solidFill>
            <a:srgbClr val="7C9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4069080"/>
            <a:ext cx="265176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200" b="1">
                <a:solidFill>
                  <a:srgbClr val="3F5D3D"/>
                </a:solidFill>
                <a:latin typeface="Georgia"/>
              </a:rPr>
              <a:t>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12064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微軟正黑體"/>
              </a:rPr>
              <a:t>項旅遊評分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0" y="3840480"/>
            <a:ext cx="2651760" cy="18288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474720" y="3840480"/>
            <a:ext cx="2651760" cy="91440"/>
          </a:xfrm>
          <a:prstGeom prst="rect">
            <a:avLst/>
          </a:prstGeom>
          <a:solidFill>
            <a:srgbClr val="7C9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74720" y="4069080"/>
            <a:ext cx="265176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200" b="1">
                <a:solidFill>
                  <a:srgbClr val="3F5D3D"/>
                </a:solidFill>
                <a:latin typeface="Georgia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512064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微軟正黑體"/>
              </a:rPr>
              <a:t>缺失值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5120" y="1828800"/>
            <a:ext cx="4937760" cy="4206240"/>
          </a:xfrm>
          <a:prstGeom prst="rect">
            <a:avLst/>
          </a:prstGeom>
          <a:solidFill>
            <a:srgbClr val="7C9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49440" y="2057400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標楷體"/>
              </a:rPr>
              <a:t>資料集介紹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949440" y="2743200"/>
            <a:ext cx="731520" cy="0"/>
          </a:xfrm>
          <a:prstGeom prst="line">
            <a:avLst/>
          </a:prstGeom>
          <a:ln w="12700">
            <a:solidFill>
              <a:srgbClr val="F5F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949440" y="292608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F5F2E8"/>
                </a:solidFill>
                <a:latin typeface="Georgia"/>
              </a:rPr>
              <a:t>Worldwide Travel Cities Dataset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3501213"/>
            <a:ext cx="4572000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微軟正黑體"/>
              </a:rPr>
              <a:t>・ 整理全球 560 個旅遊城市</a:t>
            </a:r>
          </a:p>
          <a:p>
            <a:pPr algn="l"/>
            <a:r>
              <a:rPr sz="2000" b="0">
                <a:solidFill>
                  <a:srgbClr val="FFFFFF"/>
                </a:solidFill>
                <a:latin typeface="微軟正黑體"/>
              </a:rPr>
              <a:t>・ 包含城市、國家、地區、預算等級</a:t>
            </a:r>
          </a:p>
          <a:p>
            <a:pPr algn="l"/>
            <a:r>
              <a:rPr sz="2000" b="0">
                <a:solidFill>
                  <a:srgbClr val="FFFFFF"/>
                </a:solidFill>
                <a:latin typeface="微軟正黑體"/>
              </a:rPr>
              <a:t>・ 9 項旅遊特色評分（1~5 分）</a:t>
            </a:r>
          </a:p>
          <a:p>
            <a:pPr algn="l"/>
            <a:r>
              <a:rPr sz="2000" b="0">
                <a:solidFill>
                  <a:srgbClr val="FFFFFF"/>
                </a:solidFill>
                <a:latin typeface="微軟正黑體"/>
              </a:rPr>
              <a:t>・ 每月平均氣溫與建議旅遊天數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5347007"/>
            <a:ext cx="45720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" sz="1000">
                <a:solidFill>
                  <a:srgbClr val="F5F2E8"/>
                </a:solidFill>
                <a:latin typeface="Georgia"/>
                <a:hlinkClick r:id="rId2"/>
              </a:rPr>
              <a:t>https://www.kaggle.com/datasets/furkanima/worldwide-travel-cities-ratings-and-climate</a:t>
            </a:r>
            <a:endParaRPr lang="en" sz="1000">
              <a:solidFill>
                <a:srgbClr val="F5F2E8"/>
              </a:solidFill>
              <a:latin typeface="Georgia"/>
            </a:endParaRPr>
          </a:p>
          <a:p>
            <a:endParaRPr sz="1000" b="0">
              <a:solidFill>
                <a:srgbClr val="F5F2E8"/>
              </a:solidFill>
              <a:latin typeface="Georg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59CE3B-D12A-665E-EBA8-967873B94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0348FB4-000C-906C-BB41-F5DCAFC4E660}"/>
              </a:ext>
            </a:extLst>
          </p:cNvPr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7C9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73A679-D9D0-293F-EEB9-8BB934E40F78}"/>
              </a:ext>
            </a:extLst>
          </p:cNvPr>
          <p:cNvSpPr txBox="1"/>
          <p:nvPr/>
        </p:nvSpPr>
        <p:spPr>
          <a:xfrm>
            <a:off x="640080" y="408800"/>
            <a:ext cx="1097280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600" b="0">
                <a:solidFill>
                  <a:srgbClr val="FFFFFF"/>
                </a:solidFill>
                <a:latin typeface="標楷體"/>
              </a:rPr>
              <a:t>資料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A896BFC-B5AB-94BF-2161-669A25B851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2" y="1334122"/>
            <a:ext cx="5877865" cy="2597688"/>
          </a:xfrm>
          <a:prstGeom prst="rect">
            <a:avLst/>
          </a:prstGeom>
        </p:spPr>
      </p:pic>
      <p:pic>
        <p:nvPicPr>
          <p:cNvPr id="25" name="圖片 24">
            <a:extLst>
              <a:ext uri="{FF2B5EF4-FFF2-40B4-BE49-F238E27FC236}">
                <a16:creationId xmlns:a16="http://schemas.microsoft.com/office/drawing/2014/main" id="{9DCF55AC-42A3-13FE-7FA3-01F99A3AFA3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8384"/>
          <a:stretch>
            <a:fillRect/>
          </a:stretch>
        </p:blipFill>
        <p:spPr>
          <a:xfrm>
            <a:off x="61812" y="4173516"/>
            <a:ext cx="5877865" cy="2290504"/>
          </a:xfrm>
          <a:prstGeom prst="rect">
            <a:avLst/>
          </a:prstGeom>
        </p:spPr>
      </p:pic>
      <p:pic>
        <p:nvPicPr>
          <p:cNvPr id="28" name="圖片 27">
            <a:extLst>
              <a:ext uri="{FF2B5EF4-FFF2-40B4-BE49-F238E27FC236}">
                <a16:creationId xmlns:a16="http://schemas.microsoft.com/office/drawing/2014/main" id="{6FD45FF6-0F20-A65F-A5BB-9AA1E7284C9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3982"/>
          <a:stretch>
            <a:fillRect/>
          </a:stretch>
        </p:blipFill>
        <p:spPr>
          <a:xfrm>
            <a:off x="6034188" y="1371598"/>
            <a:ext cx="6096000" cy="2377940"/>
          </a:xfrm>
          <a:prstGeom prst="rect">
            <a:avLst/>
          </a:prstGeom>
        </p:spPr>
      </p:pic>
      <p:pic>
        <p:nvPicPr>
          <p:cNvPr id="29" name="圖片 28">
            <a:extLst>
              <a:ext uri="{FF2B5EF4-FFF2-40B4-BE49-F238E27FC236}">
                <a16:creationId xmlns:a16="http://schemas.microsoft.com/office/drawing/2014/main" id="{24FE98BF-4DC7-8FE4-78A8-387530D20F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4340" y="3942988"/>
            <a:ext cx="6095848" cy="2751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8711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7C9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972800" cy="9143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600" b="0">
                <a:solidFill>
                  <a:srgbClr val="FFFFFF"/>
                </a:solidFill>
                <a:latin typeface="標楷體"/>
              </a:rPr>
              <a:t>9 項旅遊特色評分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3566160" cy="118872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73152" cy="1188720"/>
          </a:xfrm>
          <a:prstGeom prst="rect">
            <a:avLst/>
          </a:prstGeom>
          <a:solidFill>
            <a:srgbClr val="7C9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3F5D3D"/>
                </a:solidFill>
                <a:latin typeface="標楷體"/>
              </a:rPr>
              <a:t>文化程度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595959"/>
                </a:solidFill>
                <a:latin typeface="Georgia"/>
              </a:rPr>
              <a:t>culture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4416552" y="1737360"/>
            <a:ext cx="3566160" cy="118872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16552" y="1737360"/>
            <a:ext cx="73152" cy="1188720"/>
          </a:xfrm>
          <a:prstGeom prst="rect">
            <a:avLst/>
          </a:prstGeom>
          <a:solidFill>
            <a:srgbClr val="7C9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90872" y="1920240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3F5D3D"/>
                </a:solidFill>
                <a:latin typeface="標楷體"/>
              </a:rPr>
              <a:t>冒險程度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0872" y="246888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595959"/>
                </a:solidFill>
                <a:latin typeface="Georgia"/>
              </a:rPr>
              <a:t>adventure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93023" y="1737360"/>
            <a:ext cx="3566160" cy="118872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93023" y="1737360"/>
            <a:ext cx="73152" cy="1188720"/>
          </a:xfrm>
          <a:prstGeom prst="rect">
            <a:avLst/>
          </a:prstGeom>
          <a:solidFill>
            <a:srgbClr val="7C9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67344" y="1920240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3F5D3D"/>
                </a:solidFill>
                <a:latin typeface="標楷體"/>
              </a:rPr>
              <a:t>自然景觀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67344" y="246888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595959"/>
                </a:solidFill>
                <a:latin typeface="Georgia"/>
              </a:rPr>
              <a:t>nature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154680"/>
            <a:ext cx="3566160" cy="118872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3154680"/>
            <a:ext cx="73152" cy="1188720"/>
          </a:xfrm>
          <a:prstGeom prst="rect">
            <a:avLst/>
          </a:prstGeom>
          <a:solidFill>
            <a:srgbClr val="7C9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3337560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3F5D3D"/>
                </a:solidFill>
                <a:latin typeface="標楷體"/>
              </a:rPr>
              <a:t>海灘資源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88620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595959"/>
                </a:solidFill>
                <a:latin typeface="Georgia"/>
              </a:rPr>
              <a:t>beaches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16552" y="3154680"/>
            <a:ext cx="3566160" cy="118872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416552" y="3154680"/>
            <a:ext cx="73152" cy="1188720"/>
          </a:xfrm>
          <a:prstGeom prst="rect">
            <a:avLst/>
          </a:prstGeom>
          <a:solidFill>
            <a:srgbClr val="7C9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90872" y="3337560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3F5D3D"/>
                </a:solidFill>
                <a:latin typeface="標楷體"/>
              </a:rPr>
              <a:t>夜生活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90872" y="388620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595959"/>
                </a:solidFill>
                <a:latin typeface="Georgia"/>
              </a:rPr>
              <a:t>nightlife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93023" y="3154680"/>
            <a:ext cx="3566160" cy="118872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193023" y="3154680"/>
            <a:ext cx="73152" cy="1188720"/>
          </a:xfrm>
          <a:prstGeom prst="rect">
            <a:avLst/>
          </a:prstGeom>
          <a:solidFill>
            <a:srgbClr val="7C9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67344" y="3337560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3F5D3D"/>
                </a:solidFill>
                <a:latin typeface="標楷體"/>
              </a:rPr>
              <a:t>美食程度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67344" y="388620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595959"/>
                </a:solidFill>
                <a:latin typeface="Georgia"/>
              </a:rPr>
              <a:t>cuisine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572000"/>
            <a:ext cx="3566160" cy="118872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0080" y="4572000"/>
            <a:ext cx="73152" cy="1188720"/>
          </a:xfrm>
          <a:prstGeom prst="rect">
            <a:avLst/>
          </a:prstGeom>
          <a:solidFill>
            <a:srgbClr val="7C9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4754880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3F5D3D"/>
                </a:solidFill>
                <a:latin typeface="標楷體"/>
              </a:rPr>
              <a:t>療癒放鬆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30352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595959"/>
                </a:solidFill>
                <a:latin typeface="Georgia"/>
              </a:rPr>
              <a:t>wellness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16552" y="4572000"/>
            <a:ext cx="3566160" cy="118872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416552" y="4572000"/>
            <a:ext cx="73152" cy="1188720"/>
          </a:xfrm>
          <a:prstGeom prst="rect">
            <a:avLst/>
          </a:prstGeom>
          <a:solidFill>
            <a:srgbClr val="7C9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690872" y="4754880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3F5D3D"/>
                </a:solidFill>
                <a:latin typeface="標楷體"/>
              </a:rPr>
              <a:t>都會程度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90872" y="530352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595959"/>
                </a:solidFill>
                <a:latin typeface="Georgia"/>
              </a:rPr>
              <a:t>urban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93023" y="4572000"/>
            <a:ext cx="3566160" cy="118872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193023" y="4572000"/>
            <a:ext cx="73152" cy="1188720"/>
          </a:xfrm>
          <a:prstGeom prst="rect">
            <a:avLst/>
          </a:prstGeom>
          <a:solidFill>
            <a:srgbClr val="7C9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67344" y="4754880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3F5D3D"/>
                </a:solidFill>
                <a:latin typeface="標楷體"/>
              </a:rPr>
              <a:t>隱密安靜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67344" y="530352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595959"/>
                </a:solidFill>
                <a:latin typeface="Georgia"/>
              </a:rPr>
              <a:t>seclusion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C98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972800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TW" altLang="en-US" sz="6000" b="0" dirty="0">
                <a:solidFill>
                  <a:srgbClr val="FFFFFF"/>
                </a:solidFill>
                <a:latin typeface="標楷體"/>
              </a:rPr>
              <a:t>資料採礦操作流程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2926080"/>
            <a:ext cx="6400800" cy="36576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r"/>
            <a:r>
              <a:rPr sz="32000" b="0">
                <a:solidFill>
                  <a:srgbClr val="A8C0A3"/>
                </a:solidFill>
                <a:latin typeface="標楷體"/>
              </a:rPr>
              <a:t>參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0" y="6355080"/>
            <a:ext cx="3840480" cy="0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5855A-2E66-1865-ED75-1EDB73CF6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8CFBC19-D4ED-D73A-35C6-069216136540}"/>
              </a:ext>
            </a:extLst>
          </p:cNvPr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7C9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DDAF7D-FAD4-DBB9-D1B1-F9F4CB979112}"/>
              </a:ext>
            </a:extLst>
          </p:cNvPr>
          <p:cNvSpPr txBox="1"/>
          <p:nvPr/>
        </p:nvSpPr>
        <p:spPr>
          <a:xfrm>
            <a:off x="640080" y="408801"/>
            <a:ext cx="1097280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zh-TW" altLang="en-US" sz="3600" b="0">
                <a:solidFill>
                  <a:srgbClr val="FFFFFF"/>
                </a:solidFill>
                <a:latin typeface="標楷體"/>
              </a:rPr>
              <a:t>資料採礦流程圖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649DB53-E0B0-D063-1B87-EF9FE22E57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8032"/>
          <a:stretch>
            <a:fillRect/>
          </a:stretch>
        </p:blipFill>
        <p:spPr>
          <a:xfrm>
            <a:off x="0" y="1372541"/>
            <a:ext cx="12191694" cy="5288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3258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B6130-3CED-6DC6-063F-B11E3FADD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BB7A1BB-4F48-C869-4F71-5E41A62981F9}"/>
              </a:ext>
            </a:extLst>
          </p:cNvPr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7C9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D3F135-544C-6123-83C6-161DC056C09E}"/>
              </a:ext>
            </a:extLst>
          </p:cNvPr>
          <p:cNvSpPr txBox="1"/>
          <p:nvPr/>
        </p:nvSpPr>
        <p:spPr>
          <a:xfrm>
            <a:off x="640080" y="408801"/>
            <a:ext cx="1097280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zh-TW" altLang="en-US" sz="3600" b="0">
                <a:solidFill>
                  <a:srgbClr val="FFFFFF"/>
                </a:solidFill>
                <a:latin typeface="標楷體"/>
              </a:rPr>
              <a:t>選擇屬性（</a:t>
            </a:r>
            <a:r>
              <a:rPr lang="en" altLang="zh-TW" sz="3600" b="0">
                <a:solidFill>
                  <a:srgbClr val="FFFFFF"/>
                </a:solidFill>
                <a:latin typeface="標楷體"/>
              </a:rPr>
              <a:t>select attributes</a:t>
            </a:r>
            <a:r>
              <a:rPr lang="zh-TW" altLang="en" sz="3600" b="0">
                <a:solidFill>
                  <a:srgbClr val="FFFFFF"/>
                </a:solidFill>
                <a:latin typeface="標楷體"/>
              </a:rPr>
              <a:t>）</a:t>
            </a:r>
          </a:p>
        </p:txBody>
      </p:sp>
      <p:pic>
        <p:nvPicPr>
          <p:cNvPr id="33" name="圖片 32">
            <a:extLst>
              <a:ext uri="{FF2B5EF4-FFF2-40B4-BE49-F238E27FC236}">
                <a16:creationId xmlns:a16="http://schemas.microsoft.com/office/drawing/2014/main" id="{1FE19E54-5AAD-FE9E-9D67-CDB181EE1B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157" y="2482189"/>
            <a:ext cx="5271243" cy="3162746"/>
          </a:xfrm>
          <a:prstGeom prst="rect">
            <a:avLst/>
          </a:prstGeom>
        </p:spPr>
      </p:pic>
      <p:pic>
        <p:nvPicPr>
          <p:cNvPr id="34" name="圖片 33">
            <a:extLst>
              <a:ext uri="{FF2B5EF4-FFF2-40B4-BE49-F238E27FC236}">
                <a16:creationId xmlns:a16="http://schemas.microsoft.com/office/drawing/2014/main" id="{415A778E-FE1B-DF94-CABA-517335B795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6344" y="1472787"/>
            <a:ext cx="6393626" cy="480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9641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CD60B-7D8C-A66E-4CD0-6C92A6924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4FD4358-4A62-65C9-47CD-BC72D28CF932}"/>
              </a:ext>
            </a:extLst>
          </p:cNvPr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7C9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08DAF5-D734-D9B0-2945-B6BF9158579B}"/>
              </a:ext>
            </a:extLst>
          </p:cNvPr>
          <p:cNvSpPr txBox="1"/>
          <p:nvPr/>
        </p:nvSpPr>
        <p:spPr>
          <a:xfrm>
            <a:off x="640080" y="408801"/>
            <a:ext cx="1097280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zh-TW" altLang="en-US" sz="3600" b="0">
                <a:solidFill>
                  <a:srgbClr val="FFFFFF"/>
                </a:solidFill>
                <a:latin typeface="標楷體"/>
              </a:rPr>
              <a:t>設定角色（</a:t>
            </a:r>
            <a:r>
              <a:rPr lang="en" altLang="zh-TW" sz="3600" b="0">
                <a:solidFill>
                  <a:srgbClr val="FFFFFF"/>
                </a:solidFill>
                <a:latin typeface="標楷體"/>
              </a:rPr>
              <a:t>set role</a:t>
            </a:r>
            <a:r>
              <a:rPr lang="zh-TW" altLang="en" sz="3600" b="0">
                <a:solidFill>
                  <a:srgbClr val="FFFFFF"/>
                </a:solidFill>
                <a:latin typeface="標楷體"/>
              </a:rPr>
              <a:t>）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DD855D5-3293-768C-F99D-32F6BD0B0B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9805" y="1371600"/>
            <a:ext cx="6993922" cy="5235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1528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A242D-00EF-0CC8-601A-42AAC56E9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BA3BD0-BD31-E175-73E6-0DAE9E1938AA}"/>
              </a:ext>
            </a:extLst>
          </p:cNvPr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7C9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5DA00B-A4CB-0953-5207-471C9E361869}"/>
              </a:ext>
            </a:extLst>
          </p:cNvPr>
          <p:cNvSpPr txBox="1"/>
          <p:nvPr/>
        </p:nvSpPr>
        <p:spPr>
          <a:xfrm>
            <a:off x="640080" y="408801"/>
            <a:ext cx="1097280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zh-TW" altLang="en-US" sz="3600" b="0">
                <a:solidFill>
                  <a:srgbClr val="FFFFFF"/>
                </a:solidFill>
                <a:latin typeface="標楷體"/>
              </a:rPr>
              <a:t>資料標準化（</a:t>
            </a:r>
            <a:r>
              <a:rPr lang="en" altLang="zh-TW" sz="3600" b="0">
                <a:solidFill>
                  <a:srgbClr val="FFFFFF"/>
                </a:solidFill>
                <a:latin typeface="標楷體"/>
              </a:rPr>
              <a:t>normalize</a:t>
            </a:r>
            <a:r>
              <a:rPr lang="zh-TW" altLang="en" sz="3600" b="0">
                <a:solidFill>
                  <a:srgbClr val="FFFFFF"/>
                </a:solidFill>
                <a:latin typeface="標楷體"/>
              </a:rPr>
              <a:t>）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D90FA32-AEF0-02DA-3E3E-448E6ECA36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990" y="1537854"/>
            <a:ext cx="7487227" cy="4514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0295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7C9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3784" y="403443"/>
            <a:ext cx="12191695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" altLang="zh-TW" sz="3600">
                <a:solidFill>
                  <a:srgbClr val="FFFFFF"/>
                </a:solidFill>
                <a:latin typeface="標楷體"/>
              </a:rPr>
              <a:t>K-means</a:t>
            </a:r>
            <a:r>
              <a:rPr lang="zh-TW" altLang="en-US" sz="3600">
                <a:solidFill>
                  <a:srgbClr val="FFFFFF"/>
                </a:solidFill>
                <a:latin typeface="標楷體"/>
              </a:rPr>
              <a:t>聚類分析與評估（</a:t>
            </a:r>
            <a:r>
              <a:rPr lang="en" altLang="zh-TW" sz="3600">
                <a:solidFill>
                  <a:srgbClr val="FFFFFF"/>
                </a:solidFill>
                <a:latin typeface="標楷體"/>
              </a:rPr>
              <a:t>clustering and performance</a:t>
            </a:r>
            <a:r>
              <a:rPr lang="zh-TW" altLang="en" sz="3600">
                <a:solidFill>
                  <a:srgbClr val="FFFFFF"/>
                </a:solidFill>
                <a:latin typeface="標楷體"/>
              </a:rPr>
              <a:t>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-493302" y="4063245"/>
            <a:ext cx="3566160" cy="7386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Georgia"/>
              </a:rPr>
              <a:t>K = 4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F92F17E-CC5B-A339-8D0B-FBE19D3EA4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289" y="1476046"/>
            <a:ext cx="5385342" cy="5174397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870899A3-5BFF-5F13-CD25-015C7B23F9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4800" y="1917700"/>
            <a:ext cx="5130800" cy="3022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48029A-2730-0047-E124-54B97FCCF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">
            <a:extLst>
              <a:ext uri="{FF2B5EF4-FFF2-40B4-BE49-F238E27FC236}">
                <a16:creationId xmlns:a16="http://schemas.microsoft.com/office/drawing/2014/main" id="{E04AE8DA-5C22-8B41-D760-C6227A5D34AC}"/>
              </a:ext>
            </a:extLst>
          </p:cNvPr>
          <p:cNvSpPr/>
          <p:nvPr/>
        </p:nvSpPr>
        <p:spPr>
          <a:xfrm>
            <a:off x="164935" y="5251979"/>
            <a:ext cx="11864767" cy="1526885"/>
          </a:xfrm>
          <a:prstGeom prst="rect">
            <a:avLst/>
          </a:prstGeom>
          <a:solidFill>
            <a:srgbClr val="FFFFFF"/>
          </a:solidFill>
          <a:ln w="6350">
            <a:solidFill>
              <a:srgbClr val="7C9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13">
            <a:extLst>
              <a:ext uri="{FF2B5EF4-FFF2-40B4-BE49-F238E27FC236}">
                <a16:creationId xmlns:a16="http://schemas.microsoft.com/office/drawing/2014/main" id="{8A8CA7D0-DFC5-25BE-6312-9CF4C1548B9F}"/>
              </a:ext>
            </a:extLst>
          </p:cNvPr>
          <p:cNvSpPr/>
          <p:nvPr/>
        </p:nvSpPr>
        <p:spPr>
          <a:xfrm>
            <a:off x="164935" y="3667837"/>
            <a:ext cx="11864767" cy="1537967"/>
          </a:xfrm>
          <a:prstGeom prst="rect">
            <a:avLst/>
          </a:prstGeom>
          <a:solidFill>
            <a:srgbClr val="7C987C"/>
          </a:solidFill>
          <a:ln w="6350">
            <a:solidFill>
              <a:srgbClr val="7C9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4">
            <a:extLst>
              <a:ext uri="{FF2B5EF4-FFF2-40B4-BE49-F238E27FC236}">
                <a16:creationId xmlns:a16="http://schemas.microsoft.com/office/drawing/2014/main" id="{F1CFBD9A-F5B6-07F3-B231-5D12CB7B4448}"/>
              </a:ext>
            </a:extLst>
          </p:cNvPr>
          <p:cNvSpPr/>
          <p:nvPr/>
        </p:nvSpPr>
        <p:spPr>
          <a:xfrm>
            <a:off x="164935" y="2035331"/>
            <a:ext cx="11864767" cy="1596584"/>
          </a:xfrm>
          <a:prstGeom prst="rect">
            <a:avLst/>
          </a:prstGeom>
          <a:solidFill>
            <a:srgbClr val="FFFFFF"/>
          </a:solidFill>
          <a:ln w="6350">
            <a:solidFill>
              <a:srgbClr val="7C9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3113B1A-970F-32B7-7581-872AC92A4460}"/>
              </a:ext>
            </a:extLst>
          </p:cNvPr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7C9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830201-2832-5887-9296-9ECC248DCA33}"/>
              </a:ext>
            </a:extLst>
          </p:cNvPr>
          <p:cNvSpPr txBox="1"/>
          <p:nvPr/>
        </p:nvSpPr>
        <p:spPr>
          <a:xfrm>
            <a:off x="103784" y="403443"/>
            <a:ext cx="12191695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" altLang="zh-TW" sz="3600">
                <a:solidFill>
                  <a:srgbClr val="FFFFFF"/>
                </a:solidFill>
                <a:latin typeface="標楷體"/>
              </a:rPr>
              <a:t>K-means</a:t>
            </a:r>
            <a:r>
              <a:rPr lang="zh-TW" altLang="en-US" sz="3600">
                <a:solidFill>
                  <a:srgbClr val="FFFFFF"/>
                </a:solidFill>
                <a:latin typeface="標楷體"/>
              </a:rPr>
              <a:t>聚類分析與評估（</a:t>
            </a:r>
            <a:r>
              <a:rPr lang="en" altLang="zh-TW" sz="3600">
                <a:solidFill>
                  <a:srgbClr val="FFFFFF"/>
                </a:solidFill>
                <a:latin typeface="標楷體"/>
              </a:rPr>
              <a:t>clustering and performance</a:t>
            </a:r>
            <a:r>
              <a:rPr lang="zh-TW" altLang="en" sz="3600">
                <a:solidFill>
                  <a:srgbClr val="FFFFFF"/>
                </a:solidFill>
                <a:latin typeface="標楷體"/>
              </a:rPr>
              <a:t>）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D4690D-A08A-27FE-B09D-E70B2276A4FF}"/>
              </a:ext>
            </a:extLst>
          </p:cNvPr>
          <p:cNvSpPr txBox="1"/>
          <p:nvPr/>
        </p:nvSpPr>
        <p:spPr>
          <a:xfrm>
            <a:off x="-576429" y="2425127"/>
            <a:ext cx="35661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800" b="1">
                <a:solidFill>
                  <a:srgbClr val="3F5D3D"/>
                </a:solidFill>
                <a:latin typeface="Georgia"/>
              </a:rPr>
              <a:t>K = 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720F3E-E6AE-094A-1A86-775A90699517}"/>
              </a:ext>
            </a:extLst>
          </p:cNvPr>
          <p:cNvSpPr txBox="1"/>
          <p:nvPr/>
        </p:nvSpPr>
        <p:spPr>
          <a:xfrm>
            <a:off x="-493302" y="4063245"/>
            <a:ext cx="3566160" cy="7386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Georgia"/>
              </a:rPr>
              <a:t>K = 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E3B0E46-6226-1AFB-BD27-EBF9FF38BD52}"/>
              </a:ext>
            </a:extLst>
          </p:cNvPr>
          <p:cNvSpPr txBox="1"/>
          <p:nvPr/>
        </p:nvSpPr>
        <p:spPr>
          <a:xfrm>
            <a:off x="-576429" y="5603941"/>
            <a:ext cx="35661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800" b="1">
                <a:solidFill>
                  <a:srgbClr val="3F5D3D"/>
                </a:solidFill>
                <a:latin typeface="Georgia"/>
              </a:rPr>
              <a:t>K = 5</a:t>
            </a:r>
          </a:p>
        </p:txBody>
      </p:sp>
      <p:pic>
        <p:nvPicPr>
          <p:cNvPr id="34" name="圖片 33">
            <a:extLst>
              <a:ext uri="{FF2B5EF4-FFF2-40B4-BE49-F238E27FC236}">
                <a16:creationId xmlns:a16="http://schemas.microsoft.com/office/drawing/2014/main" id="{AD4D3D9C-A481-BCC3-662C-D5896A64EE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156" t="46494" r="9127" b="13740"/>
          <a:stretch>
            <a:fillRect/>
          </a:stretch>
        </p:blipFill>
        <p:spPr>
          <a:xfrm>
            <a:off x="3072858" y="2379095"/>
            <a:ext cx="2687387" cy="909056"/>
          </a:xfrm>
          <a:prstGeom prst="rect">
            <a:avLst/>
          </a:prstGeom>
          <a:ln w="76200">
            <a:solidFill>
              <a:srgbClr val="3F5D3D"/>
            </a:solidFill>
          </a:ln>
        </p:spPr>
      </p:pic>
      <p:pic>
        <p:nvPicPr>
          <p:cNvPr id="37" name="圖片 36">
            <a:extLst>
              <a:ext uri="{FF2B5EF4-FFF2-40B4-BE49-F238E27FC236}">
                <a16:creationId xmlns:a16="http://schemas.microsoft.com/office/drawing/2014/main" id="{D820C0AD-3513-56A9-B8EF-E306538CBC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4711" y="2173223"/>
            <a:ext cx="5074013" cy="1320800"/>
          </a:xfrm>
          <a:prstGeom prst="rect">
            <a:avLst/>
          </a:prstGeom>
          <a:ln w="76200">
            <a:solidFill>
              <a:srgbClr val="3F5D3D"/>
            </a:solidFill>
          </a:ln>
        </p:spPr>
      </p:pic>
      <p:pic>
        <p:nvPicPr>
          <p:cNvPr id="38" name="圖片 37">
            <a:extLst>
              <a:ext uri="{FF2B5EF4-FFF2-40B4-BE49-F238E27FC236}">
                <a16:creationId xmlns:a16="http://schemas.microsoft.com/office/drawing/2014/main" id="{9618D9D0-1C38-3F83-06EC-530C9F8E96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2858" y="3899177"/>
            <a:ext cx="2730500" cy="1066800"/>
          </a:xfrm>
          <a:prstGeom prst="rect">
            <a:avLst/>
          </a:prstGeom>
          <a:ln w="76200">
            <a:solidFill>
              <a:srgbClr val="3F5D3D"/>
            </a:solidFill>
          </a:ln>
        </p:spPr>
      </p:pic>
      <p:pic>
        <p:nvPicPr>
          <p:cNvPr id="39" name="圖片 38">
            <a:extLst>
              <a:ext uri="{FF2B5EF4-FFF2-40B4-BE49-F238E27FC236}">
                <a16:creationId xmlns:a16="http://schemas.microsoft.com/office/drawing/2014/main" id="{E310441C-AF0A-9577-68F8-BDDB3ECB4C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4712" y="3779498"/>
            <a:ext cx="5074013" cy="1314643"/>
          </a:xfrm>
          <a:prstGeom prst="rect">
            <a:avLst/>
          </a:prstGeom>
          <a:ln w="76200">
            <a:solidFill>
              <a:srgbClr val="3F5D3D"/>
            </a:solidFill>
          </a:ln>
        </p:spPr>
      </p:pic>
      <p:pic>
        <p:nvPicPr>
          <p:cNvPr id="44" name="圖片 43">
            <a:extLst>
              <a:ext uri="{FF2B5EF4-FFF2-40B4-BE49-F238E27FC236}">
                <a16:creationId xmlns:a16="http://schemas.microsoft.com/office/drawing/2014/main" id="{CB653987-3FA1-ADCB-4C3C-B2B7186057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72858" y="5437143"/>
            <a:ext cx="2743200" cy="1219627"/>
          </a:xfrm>
          <a:prstGeom prst="rect">
            <a:avLst/>
          </a:prstGeom>
          <a:ln w="76200">
            <a:solidFill>
              <a:srgbClr val="3F5D3D"/>
            </a:solidFill>
          </a:ln>
        </p:spPr>
      </p:pic>
      <p:pic>
        <p:nvPicPr>
          <p:cNvPr id="45" name="圖片 44">
            <a:extLst>
              <a:ext uri="{FF2B5EF4-FFF2-40B4-BE49-F238E27FC236}">
                <a16:creationId xmlns:a16="http://schemas.microsoft.com/office/drawing/2014/main" id="{C7E341A4-3517-3234-AA40-D44BB0929E2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4710" y="5359920"/>
            <a:ext cx="5074013" cy="1311002"/>
          </a:xfrm>
          <a:prstGeom prst="rect">
            <a:avLst/>
          </a:prstGeom>
          <a:ln w="76200">
            <a:solidFill>
              <a:srgbClr val="3F5D3D"/>
            </a:solidFill>
          </a:ln>
        </p:spPr>
      </p:pic>
      <p:pic>
        <p:nvPicPr>
          <p:cNvPr id="46" name="圖片 45">
            <a:extLst>
              <a:ext uri="{FF2B5EF4-FFF2-40B4-BE49-F238E27FC236}">
                <a16:creationId xmlns:a16="http://schemas.microsoft.com/office/drawing/2014/main" id="{C3A2081B-1925-9C82-64AC-84F0CACF16F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67201" y="1424361"/>
            <a:ext cx="2298700" cy="495300"/>
          </a:xfrm>
          <a:prstGeom prst="rect">
            <a:avLst/>
          </a:prstGeom>
        </p:spPr>
      </p:pic>
      <p:pic>
        <p:nvPicPr>
          <p:cNvPr id="47" name="圖片 46">
            <a:extLst>
              <a:ext uri="{FF2B5EF4-FFF2-40B4-BE49-F238E27FC236}">
                <a16:creationId xmlns:a16="http://schemas.microsoft.com/office/drawing/2014/main" id="{0DA942A7-3851-CDE8-5B62-74FF254E2D4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95966" y="1417246"/>
            <a:ext cx="3111500" cy="46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3888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E9651E-2C95-8FB3-AF4E-6025B98B9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7CCB067-9C6B-F1DF-B20D-6D84E684A85C}"/>
              </a:ext>
            </a:extLst>
          </p:cNvPr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7C9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2F4EFB-5A8E-45F9-D439-31F468A5C350}"/>
              </a:ext>
            </a:extLst>
          </p:cNvPr>
          <p:cNvSpPr txBox="1"/>
          <p:nvPr/>
        </p:nvSpPr>
        <p:spPr>
          <a:xfrm>
            <a:off x="640080" y="228600"/>
            <a:ext cx="10972800" cy="9143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600" b="0">
                <a:solidFill>
                  <a:srgbClr val="FFFFFF"/>
                </a:solidFill>
                <a:latin typeface="標楷體"/>
              </a:rPr>
              <a:t>為什麼選 K =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951DF6-26CD-17D1-1455-D4B235D5F707}"/>
              </a:ext>
            </a:extLst>
          </p:cNvPr>
          <p:cNvSpPr/>
          <p:nvPr/>
        </p:nvSpPr>
        <p:spPr>
          <a:xfrm>
            <a:off x="640080" y="1737360"/>
            <a:ext cx="356616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7C9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295A35-A11F-1758-4FAC-5500560885CE}"/>
              </a:ext>
            </a:extLst>
          </p:cNvPr>
          <p:cNvSpPr txBox="1"/>
          <p:nvPr/>
        </p:nvSpPr>
        <p:spPr>
          <a:xfrm>
            <a:off x="640080" y="2011679"/>
            <a:ext cx="35661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800" b="1">
                <a:solidFill>
                  <a:srgbClr val="3F5D3D"/>
                </a:solidFill>
                <a:latin typeface="Georgia"/>
              </a:rPr>
              <a:t>K =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FC9C17-7DF6-D81C-B32E-4361D30D3E73}"/>
              </a:ext>
            </a:extLst>
          </p:cNvPr>
          <p:cNvSpPr txBox="1"/>
          <p:nvPr/>
        </p:nvSpPr>
        <p:spPr>
          <a:xfrm>
            <a:off x="640080" y="2834639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3F5D3D"/>
                </a:solidFill>
                <a:latin typeface="標楷體"/>
              </a:rPr>
              <a:t>過於粗糙</a:t>
            </a:r>
          </a:p>
        </p:txBody>
      </p:sp>
      <p:cxnSp>
        <p:nvCxnSpPr>
          <p:cNvPr id="8" name="Connector 7">
            <a:extLst>
              <a:ext uri="{FF2B5EF4-FFF2-40B4-BE49-F238E27FC236}">
                <a16:creationId xmlns:a16="http://schemas.microsoft.com/office/drawing/2014/main" id="{6EC84720-D360-B79D-7408-FF97BED2836D}"/>
              </a:ext>
            </a:extLst>
          </p:cNvPr>
          <p:cNvCxnSpPr/>
          <p:nvPr/>
        </p:nvCxnSpPr>
        <p:spPr>
          <a:xfrm>
            <a:off x="1920239" y="3429000"/>
            <a:ext cx="1005841" cy="0"/>
          </a:xfrm>
          <a:prstGeom prst="line">
            <a:avLst/>
          </a:prstGeom>
          <a:ln w="12700">
            <a:solidFill>
              <a:srgbClr val="7C98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FEF7E1E-3585-6DF0-0036-F55638A882A2}"/>
              </a:ext>
            </a:extLst>
          </p:cNvPr>
          <p:cNvSpPr txBox="1"/>
          <p:nvPr/>
        </p:nvSpPr>
        <p:spPr>
          <a:xfrm>
            <a:off x="640080" y="3566160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3F5D3D"/>
                </a:solidFill>
                <a:latin typeface="Georgia"/>
              </a:rPr>
              <a:t>DBI 1.568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1E716F-854F-86E0-918F-A79306B1D2F9}"/>
              </a:ext>
            </a:extLst>
          </p:cNvPr>
          <p:cNvSpPr txBox="1"/>
          <p:nvPr/>
        </p:nvSpPr>
        <p:spPr>
          <a:xfrm>
            <a:off x="640080" y="411480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Georgia"/>
              </a:rPr>
              <a:t>群內距離 5.144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A92AB71-A0D2-C607-BB4D-7E6B2A4DD337}"/>
              </a:ext>
            </a:extLst>
          </p:cNvPr>
          <p:cNvSpPr/>
          <p:nvPr/>
        </p:nvSpPr>
        <p:spPr>
          <a:xfrm>
            <a:off x="2148839" y="4617720"/>
            <a:ext cx="548640" cy="548640"/>
          </a:xfrm>
          <a:prstGeom prst="rect">
            <a:avLst/>
          </a:prstGeom>
          <a:solidFill>
            <a:srgbClr val="B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49666F-2277-990C-168E-585345986B8F}"/>
              </a:ext>
            </a:extLst>
          </p:cNvPr>
          <p:cNvSpPr txBox="1"/>
          <p:nvPr/>
        </p:nvSpPr>
        <p:spPr>
          <a:xfrm>
            <a:off x="2148839" y="46177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微軟正黑體"/>
              </a:rPr>
              <a:t>✕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AC29E2-3478-7128-97E1-E68ADDD880B0}"/>
              </a:ext>
            </a:extLst>
          </p:cNvPr>
          <p:cNvSpPr txBox="1"/>
          <p:nvPr/>
        </p:nvSpPr>
        <p:spPr>
          <a:xfrm>
            <a:off x="914400" y="5349240"/>
            <a:ext cx="30175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3F5D3D"/>
                </a:solidFill>
                <a:latin typeface="微軟正黑體"/>
              </a:rPr>
              <a:t>海濱 + 曠野
被強制合併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5643B49-D498-439A-2DAE-D7FFC58B211C}"/>
              </a:ext>
            </a:extLst>
          </p:cNvPr>
          <p:cNvSpPr/>
          <p:nvPr/>
        </p:nvSpPr>
        <p:spPr>
          <a:xfrm>
            <a:off x="4416552" y="1737360"/>
            <a:ext cx="3566160" cy="4206240"/>
          </a:xfrm>
          <a:prstGeom prst="rect">
            <a:avLst/>
          </a:prstGeom>
          <a:solidFill>
            <a:srgbClr val="7C987C"/>
          </a:solidFill>
          <a:ln w="6350">
            <a:solidFill>
              <a:srgbClr val="7C9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051484-EDE7-DB5B-6448-F85EE44FD262}"/>
              </a:ext>
            </a:extLst>
          </p:cNvPr>
          <p:cNvSpPr txBox="1"/>
          <p:nvPr/>
        </p:nvSpPr>
        <p:spPr>
          <a:xfrm>
            <a:off x="4416552" y="2011679"/>
            <a:ext cx="35661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Georgia"/>
              </a:rPr>
              <a:t>K = 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629474-F43A-EBE0-8AFE-6044EB06A18D}"/>
              </a:ext>
            </a:extLst>
          </p:cNvPr>
          <p:cNvSpPr txBox="1"/>
          <p:nvPr/>
        </p:nvSpPr>
        <p:spPr>
          <a:xfrm>
            <a:off x="4416552" y="2834639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標楷體"/>
              </a:rPr>
              <a:t>最佳分群</a:t>
            </a:r>
          </a:p>
        </p:txBody>
      </p:sp>
      <p:cxnSp>
        <p:nvCxnSpPr>
          <p:cNvPr id="17" name="Connector 16">
            <a:extLst>
              <a:ext uri="{FF2B5EF4-FFF2-40B4-BE49-F238E27FC236}">
                <a16:creationId xmlns:a16="http://schemas.microsoft.com/office/drawing/2014/main" id="{D011754C-7F81-D007-08E2-310356EDF0AC}"/>
              </a:ext>
            </a:extLst>
          </p:cNvPr>
          <p:cNvCxnSpPr/>
          <p:nvPr/>
        </p:nvCxnSpPr>
        <p:spPr>
          <a:xfrm>
            <a:off x="5696712" y="3429000"/>
            <a:ext cx="1005840" cy="0"/>
          </a:xfrm>
          <a:prstGeom prst="line">
            <a:avLst/>
          </a:prstGeom>
          <a:ln w="12700">
            <a:solidFill>
              <a:srgbClr val="F5F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DA8C139-6DD1-31EE-7DC4-7A87E7820938}"/>
              </a:ext>
            </a:extLst>
          </p:cNvPr>
          <p:cNvSpPr txBox="1"/>
          <p:nvPr/>
        </p:nvSpPr>
        <p:spPr>
          <a:xfrm>
            <a:off x="4416552" y="3566160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Georgia"/>
              </a:rPr>
              <a:t>DBI 1.482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B21B7B0-78A2-22AC-B0BC-3E6F4FC2AA7D}"/>
              </a:ext>
            </a:extLst>
          </p:cNvPr>
          <p:cNvSpPr txBox="1"/>
          <p:nvPr/>
        </p:nvSpPr>
        <p:spPr>
          <a:xfrm>
            <a:off x="4416552" y="411480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F5F2E8"/>
                </a:solidFill>
                <a:latin typeface="Georgia"/>
              </a:rPr>
              <a:t>群內距離 4.533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1186929-3B83-032C-0ECB-B7D39783024A}"/>
              </a:ext>
            </a:extLst>
          </p:cNvPr>
          <p:cNvSpPr/>
          <p:nvPr/>
        </p:nvSpPr>
        <p:spPr>
          <a:xfrm>
            <a:off x="5925312" y="4617720"/>
            <a:ext cx="548640" cy="548640"/>
          </a:xfrm>
          <a:prstGeom prst="rect">
            <a:avLst/>
          </a:prstGeom>
          <a:solidFill>
            <a:srgbClr val="3F5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B4D9D6D-9D12-AB69-F448-9F740E0F2D16}"/>
              </a:ext>
            </a:extLst>
          </p:cNvPr>
          <p:cNvSpPr txBox="1"/>
          <p:nvPr/>
        </p:nvSpPr>
        <p:spPr>
          <a:xfrm>
            <a:off x="5925312" y="46177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微軟正黑體"/>
              </a:rPr>
              <a:t>✓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3555504-FFBE-CE5C-A206-6BB5E5119B27}"/>
              </a:ext>
            </a:extLst>
          </p:cNvPr>
          <p:cNvSpPr txBox="1"/>
          <p:nvPr/>
        </p:nvSpPr>
        <p:spPr>
          <a:xfrm>
            <a:off x="4690872" y="5349240"/>
            <a:ext cx="30175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軟正黑體"/>
              </a:rPr>
              <a:t>四原型
清晰可辨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6E16FE4-8335-8682-66A1-5B13F6AAB6E9}"/>
              </a:ext>
            </a:extLst>
          </p:cNvPr>
          <p:cNvSpPr/>
          <p:nvPr/>
        </p:nvSpPr>
        <p:spPr>
          <a:xfrm>
            <a:off x="8193023" y="1737360"/>
            <a:ext cx="356616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7C9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5381CC-4155-715A-C51C-8F0B29F638CE}"/>
              </a:ext>
            </a:extLst>
          </p:cNvPr>
          <p:cNvSpPr txBox="1"/>
          <p:nvPr/>
        </p:nvSpPr>
        <p:spPr>
          <a:xfrm>
            <a:off x="8193023" y="2011679"/>
            <a:ext cx="35661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800" b="1">
                <a:solidFill>
                  <a:srgbClr val="3F5D3D"/>
                </a:solidFill>
                <a:latin typeface="Georgia"/>
              </a:rPr>
              <a:t>K = 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094589C-500A-D5AC-0737-D32254707821}"/>
              </a:ext>
            </a:extLst>
          </p:cNvPr>
          <p:cNvSpPr txBox="1"/>
          <p:nvPr/>
        </p:nvSpPr>
        <p:spPr>
          <a:xfrm>
            <a:off x="8193023" y="2834639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3F5D3D"/>
                </a:solidFill>
                <a:latin typeface="標楷體"/>
              </a:rPr>
              <a:t>過度切割</a:t>
            </a:r>
          </a:p>
        </p:txBody>
      </p:sp>
      <p:cxnSp>
        <p:nvCxnSpPr>
          <p:cNvPr id="26" name="Connector 25">
            <a:extLst>
              <a:ext uri="{FF2B5EF4-FFF2-40B4-BE49-F238E27FC236}">
                <a16:creationId xmlns:a16="http://schemas.microsoft.com/office/drawing/2014/main" id="{971B25B8-6AC2-4BE3-A80E-A90BB3138428}"/>
              </a:ext>
            </a:extLst>
          </p:cNvPr>
          <p:cNvCxnSpPr/>
          <p:nvPr/>
        </p:nvCxnSpPr>
        <p:spPr>
          <a:xfrm>
            <a:off x="9473184" y="3429000"/>
            <a:ext cx="1005840" cy="0"/>
          </a:xfrm>
          <a:prstGeom prst="line">
            <a:avLst/>
          </a:prstGeom>
          <a:ln w="12700">
            <a:solidFill>
              <a:srgbClr val="7C98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FE269EA2-7759-8C09-539D-5A74786463F1}"/>
              </a:ext>
            </a:extLst>
          </p:cNvPr>
          <p:cNvSpPr txBox="1"/>
          <p:nvPr/>
        </p:nvSpPr>
        <p:spPr>
          <a:xfrm>
            <a:off x="8193023" y="3566160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3F5D3D"/>
                </a:solidFill>
                <a:latin typeface="Georgia"/>
              </a:rPr>
              <a:t>DBI 1.588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4395EEA-D6D7-96F5-2834-11E4C63E8163}"/>
              </a:ext>
            </a:extLst>
          </p:cNvPr>
          <p:cNvSpPr txBox="1"/>
          <p:nvPr/>
        </p:nvSpPr>
        <p:spPr>
          <a:xfrm>
            <a:off x="8193023" y="411480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Georgia"/>
              </a:rPr>
              <a:t>群內距離 4.149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33448D1-8059-6FB8-A6BA-81C57469FC7C}"/>
              </a:ext>
            </a:extLst>
          </p:cNvPr>
          <p:cNvSpPr/>
          <p:nvPr/>
        </p:nvSpPr>
        <p:spPr>
          <a:xfrm>
            <a:off x="9701784" y="4617720"/>
            <a:ext cx="548640" cy="548640"/>
          </a:xfrm>
          <a:prstGeom prst="rect">
            <a:avLst/>
          </a:prstGeom>
          <a:solidFill>
            <a:srgbClr val="B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E162BFB-6437-5F8C-BDC6-2C2664E1D827}"/>
              </a:ext>
            </a:extLst>
          </p:cNvPr>
          <p:cNvSpPr txBox="1"/>
          <p:nvPr/>
        </p:nvSpPr>
        <p:spPr>
          <a:xfrm>
            <a:off x="9701784" y="46177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微軟正黑體"/>
              </a:rPr>
              <a:t>✕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4DB6CD2-00A3-3A09-1773-971DEBC0AFCC}"/>
              </a:ext>
            </a:extLst>
          </p:cNvPr>
          <p:cNvSpPr txBox="1"/>
          <p:nvPr/>
        </p:nvSpPr>
        <p:spPr>
          <a:xfrm>
            <a:off x="8467344" y="5349240"/>
            <a:ext cx="30175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3F5D3D"/>
                </a:solidFill>
                <a:latin typeface="微軟正黑體"/>
              </a:rPr>
              <a:t>都會型被
強行切兩半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7EF05F8-D2CC-8323-B012-02292D7613FC}"/>
              </a:ext>
            </a:extLst>
          </p:cNvPr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>
                <a:solidFill>
                  <a:srgbClr val="595959"/>
                </a:solidFill>
                <a:latin typeface="微軟正黑體"/>
              </a:rPr>
              <a:t>K=3 把該分的合在一起 · K=5 把不該分的切開 · </a:t>
            </a:r>
          </a:p>
          <a:p>
            <a:pPr algn="ctr"/>
            <a:r>
              <a:rPr sz="1300" b="1">
                <a:solidFill>
                  <a:srgbClr val="3F5D3D"/>
                </a:solidFill>
                <a:latin typeface="微軟正黑體"/>
              </a:rPr>
              <a:t>唯有 K=4 在合理人數與清楚意義之間取得最佳平衡。</a:t>
            </a:r>
          </a:p>
        </p:txBody>
      </p:sp>
    </p:spTree>
    <p:extLst>
      <p:ext uri="{BB962C8B-B14F-4D97-AF65-F5344CB8AC3E}">
        <p14:creationId xmlns:p14="http://schemas.microsoft.com/office/powerpoint/2010/main" val="23951609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5BFAD-AB98-11B2-E077-5C7630782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E4E0C3F-5855-2645-D231-51F1A0BE3CC7}"/>
              </a:ext>
            </a:extLst>
          </p:cNvPr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7C9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CE770E-50B0-C4CD-160E-75D6D2D559D0}"/>
              </a:ext>
            </a:extLst>
          </p:cNvPr>
          <p:cNvSpPr txBox="1"/>
          <p:nvPr/>
        </p:nvSpPr>
        <p:spPr>
          <a:xfrm>
            <a:off x="640080" y="408801"/>
            <a:ext cx="1097280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zh-TW" altLang="en-US" sz="3600" b="0">
                <a:solidFill>
                  <a:srgbClr val="FFFFFF"/>
                </a:solidFill>
                <a:latin typeface="標楷體"/>
              </a:rPr>
              <a:t>資料聚合（</a:t>
            </a:r>
            <a:r>
              <a:rPr lang="en" altLang="zh-TW" sz="3600" b="0">
                <a:solidFill>
                  <a:srgbClr val="FFFFFF"/>
                </a:solidFill>
                <a:latin typeface="標楷體"/>
              </a:rPr>
              <a:t>aggregate </a:t>
            </a:r>
            <a:r>
              <a:rPr lang="zh-TW" altLang="en" sz="3600" b="0">
                <a:solidFill>
                  <a:srgbClr val="FFFFFF"/>
                </a:solidFill>
                <a:latin typeface="標楷體"/>
              </a:rPr>
              <a:t>）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D370D82-2B83-580D-095B-1A2F4C9117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361" y="1810987"/>
            <a:ext cx="5003800" cy="414020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196DA454-57D4-160D-ABB2-C7207A65A1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7817" y="1804420"/>
            <a:ext cx="6518201" cy="185724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F4FED915-24C7-7B42-CE57-F2E632B666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0468"/>
          <a:stretch>
            <a:fillRect/>
          </a:stretch>
        </p:blipFill>
        <p:spPr>
          <a:xfrm>
            <a:off x="5608751" y="4055292"/>
            <a:ext cx="6375404" cy="2179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662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72359-CD2A-C3F3-B9E8-BA0A127B9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FC0949D-3EC8-3AEE-1F07-FFEE155B1371}"/>
              </a:ext>
            </a:extLst>
          </p:cNvPr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7C9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A879BB-07F4-29FF-FC51-3C7556A5DB1D}"/>
              </a:ext>
            </a:extLst>
          </p:cNvPr>
          <p:cNvSpPr txBox="1"/>
          <p:nvPr/>
        </p:nvSpPr>
        <p:spPr>
          <a:xfrm>
            <a:off x="640080" y="408801"/>
            <a:ext cx="1097280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zh-TW" altLang="en-US" sz="3600" b="0">
                <a:solidFill>
                  <a:srgbClr val="FFFFFF"/>
                </a:solidFill>
                <a:latin typeface="標楷體"/>
              </a:rPr>
              <a:t>樞紐分析（</a:t>
            </a:r>
            <a:r>
              <a:rPr lang="en" altLang="zh-TW" sz="3600" b="0">
                <a:solidFill>
                  <a:srgbClr val="FFFFFF"/>
                </a:solidFill>
                <a:latin typeface="標楷體"/>
              </a:rPr>
              <a:t>pivot</a:t>
            </a:r>
            <a:r>
              <a:rPr lang="zh-TW" altLang="en" sz="3600" b="0">
                <a:solidFill>
                  <a:srgbClr val="FFFFFF"/>
                </a:solidFill>
                <a:latin typeface="標楷體"/>
              </a:rPr>
              <a:t>）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153D3CFB-E7B5-30A3-6A27-302329701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59" y="2371189"/>
            <a:ext cx="5029200" cy="313690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C1A1CD50-A487-DDC6-8443-589A9D3A3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7766" y="1802782"/>
            <a:ext cx="6463156" cy="2092324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C1842E53-0B03-2B6A-9665-10B3E24940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6285" y="4417728"/>
            <a:ext cx="6586054" cy="1902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519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2DDBE-9DCA-237B-8566-E46775E90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00FC050-EEC4-3961-7DC9-F01F07461102}"/>
              </a:ext>
            </a:extLst>
          </p:cNvPr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7C9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4ED168-9472-F55A-9C64-5555DA8C6A5F}"/>
              </a:ext>
            </a:extLst>
          </p:cNvPr>
          <p:cNvSpPr txBox="1"/>
          <p:nvPr/>
        </p:nvSpPr>
        <p:spPr>
          <a:xfrm>
            <a:off x="640080" y="408801"/>
            <a:ext cx="1097280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zh-TW" altLang="en-US" sz="3600" b="0">
                <a:solidFill>
                  <a:srgbClr val="FFFFFF"/>
                </a:solidFill>
                <a:latin typeface="標楷體"/>
              </a:rPr>
              <a:t>第二次資料聚合（</a:t>
            </a:r>
            <a:r>
              <a:rPr lang="en" altLang="zh-TW" sz="3600" b="0">
                <a:solidFill>
                  <a:srgbClr val="FFFFFF"/>
                </a:solidFill>
                <a:latin typeface="標楷體"/>
              </a:rPr>
              <a:t>aggregate</a:t>
            </a:r>
            <a:r>
              <a:rPr lang="zh-TW" altLang="en" sz="3600" b="0">
                <a:solidFill>
                  <a:srgbClr val="FFFFFF"/>
                </a:solidFill>
                <a:latin typeface="標楷體"/>
              </a:rPr>
              <a:t>）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6E5F529-3F23-AAC3-4C44-74CC399E34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59" y="1823687"/>
            <a:ext cx="5029200" cy="408940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0D8F1252-2A46-11CC-8DE3-4403D6DF99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4262" y="1495347"/>
            <a:ext cx="6696369" cy="2186004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B34162FE-9D82-6E30-C9B8-560EC4974B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4262" y="4139241"/>
            <a:ext cx="6639649" cy="2186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3794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C98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972800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TW" altLang="en-US" sz="6000" b="0" dirty="0">
                <a:solidFill>
                  <a:srgbClr val="FFFFFF"/>
                </a:solidFill>
                <a:latin typeface="標楷體"/>
              </a:rPr>
              <a:t>資料採礦結果說明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2926080"/>
            <a:ext cx="6400800" cy="36576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r"/>
            <a:r>
              <a:rPr sz="32000" b="0">
                <a:solidFill>
                  <a:srgbClr val="A8C0A3"/>
                </a:solidFill>
                <a:latin typeface="標楷體"/>
              </a:rPr>
              <a:t>肆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0" y="6355080"/>
            <a:ext cx="3840480" cy="0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7C9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972800" cy="9143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600" b="0">
                <a:solidFill>
                  <a:srgbClr val="FFFFFF"/>
                </a:solidFill>
                <a:latin typeface="標楷體"/>
              </a:rPr>
              <a:t>分群結果概覽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2651760" cy="429768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2651760" cy="91440"/>
          </a:xfrm>
          <a:prstGeom prst="rect">
            <a:avLst/>
          </a:prstGeom>
          <a:solidFill>
            <a:srgbClr val="7C9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011679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3F5D3D"/>
                </a:solidFill>
                <a:latin typeface="Georgia"/>
              </a:rPr>
              <a:t>Cluster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2651760" cy="1463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800" b="1">
                <a:solidFill>
                  <a:srgbClr val="3F5D3D"/>
                </a:solidFill>
                <a:latin typeface="Georgia"/>
              </a:rPr>
              <a:t>195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23360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微軟正黑體"/>
              </a:rPr>
              <a:t>個城市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554480" y="4480560"/>
            <a:ext cx="822959" cy="0"/>
          </a:xfrm>
          <a:prstGeom prst="line">
            <a:avLst/>
          </a:prstGeom>
          <a:ln w="12700">
            <a:solidFill>
              <a:srgbClr val="7C98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" y="461772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1A1A1A"/>
                </a:solidFill>
                <a:latin typeface="標楷體"/>
              </a:rPr>
              <a:t>都會文化美食型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166360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Georgia"/>
              </a:rPr>
              <a:t>The Metropolis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5623560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3F5D3D"/>
                </a:solidFill>
                <a:latin typeface="微軟正黑體"/>
              </a:rPr>
              <a:t>奢華 28 · 中階 137 · 平價 30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1737360"/>
            <a:ext cx="2651760" cy="429768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474720" y="1737360"/>
            <a:ext cx="2651760" cy="91440"/>
          </a:xfrm>
          <a:prstGeom prst="rect">
            <a:avLst/>
          </a:prstGeom>
          <a:solidFill>
            <a:srgbClr val="7C9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74720" y="2011679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3F5D3D"/>
                </a:solidFill>
                <a:latin typeface="Georgia"/>
              </a:rPr>
              <a:t>Cluster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468880"/>
            <a:ext cx="2651760" cy="1463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800" b="1">
                <a:solidFill>
                  <a:srgbClr val="3F5D3D"/>
                </a:solidFill>
                <a:latin typeface="Georgia"/>
              </a:rPr>
              <a:t>161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4023360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微軟正黑體"/>
              </a:rPr>
              <a:t>個城市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389120" y="4480560"/>
            <a:ext cx="822959" cy="0"/>
          </a:xfrm>
          <a:prstGeom prst="line">
            <a:avLst/>
          </a:prstGeom>
          <a:ln w="12700">
            <a:solidFill>
              <a:srgbClr val="7C98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474720" y="461772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1A1A1A"/>
                </a:solidFill>
                <a:latin typeface="標楷體"/>
              </a:rPr>
              <a:t>平穩慢遊型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5166360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Georgia"/>
              </a:rPr>
              <a:t>The Wallflower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5623560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3F5D3D"/>
                </a:solidFill>
                <a:latin typeface="微軟正黑體"/>
              </a:rPr>
              <a:t>奢華 6 · 中階 76 · 平價 79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1737360"/>
            <a:ext cx="2651760" cy="429768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309360" y="1737360"/>
            <a:ext cx="2651760" cy="91440"/>
          </a:xfrm>
          <a:prstGeom prst="rect">
            <a:avLst/>
          </a:prstGeom>
          <a:solidFill>
            <a:srgbClr val="7C9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09360" y="2011679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3F5D3D"/>
                </a:solidFill>
                <a:latin typeface="Georgia"/>
              </a:rPr>
              <a:t>Cluster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2468880"/>
            <a:ext cx="2651760" cy="1463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800" b="1">
                <a:solidFill>
                  <a:srgbClr val="3F5D3D"/>
                </a:solidFill>
                <a:latin typeface="Georgia"/>
              </a:rPr>
              <a:t>104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023360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微軟正黑體"/>
              </a:rPr>
              <a:t>個城市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223760" y="4480560"/>
            <a:ext cx="822960" cy="0"/>
          </a:xfrm>
          <a:prstGeom prst="line">
            <a:avLst/>
          </a:prstGeom>
          <a:ln w="12700">
            <a:solidFill>
              <a:srgbClr val="7C98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309360" y="461772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1A1A1A"/>
                </a:solidFill>
                <a:latin typeface="標楷體"/>
              </a:rPr>
              <a:t>自然冒險秘境型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5166360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Georgia"/>
              </a:rPr>
              <a:t>The Wilderness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623560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3F5D3D"/>
                </a:solidFill>
                <a:latin typeface="微軟正黑體"/>
              </a:rPr>
              <a:t>奢華 24 · 中階 55 · 平價 25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0" y="1737360"/>
            <a:ext cx="2651760" cy="429768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144000" y="1737360"/>
            <a:ext cx="2651760" cy="91440"/>
          </a:xfrm>
          <a:prstGeom prst="rect">
            <a:avLst/>
          </a:prstGeom>
          <a:solidFill>
            <a:srgbClr val="7C9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44000" y="2011679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3F5D3D"/>
                </a:solidFill>
                <a:latin typeface="Georgia"/>
              </a:rPr>
              <a:t>Cluster 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2468880"/>
            <a:ext cx="2651760" cy="1463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800" b="1">
                <a:solidFill>
                  <a:srgbClr val="3F5D3D"/>
                </a:solidFill>
                <a:latin typeface="Georgia"/>
              </a:rPr>
              <a:t>100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4023360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微軟正黑體"/>
              </a:rPr>
              <a:t>個城市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0058400" y="4480560"/>
            <a:ext cx="822960" cy="0"/>
          </a:xfrm>
          <a:prstGeom prst="line">
            <a:avLst/>
          </a:prstGeom>
          <a:ln w="12700">
            <a:solidFill>
              <a:srgbClr val="7C98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144000" y="461772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1A1A1A"/>
                </a:solidFill>
                <a:latin typeface="標楷體"/>
              </a:rPr>
              <a:t>海濱療癒度假型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5166360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Georgia"/>
              </a:rPr>
              <a:t>The Beach Resort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35440" y="5623560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3F5D3D"/>
                </a:solidFill>
                <a:latin typeface="微軟正黑體"/>
              </a:rPr>
              <a:t>奢華 18 · 中階 71 · 平價 11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3F5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5F2E8"/>
                </a:solidFill>
                <a:latin typeface="Georgia"/>
              </a:rPr>
              <a:t>TOTAL 560 cities  |  K-Means · Seed 1992  |  Euclidean Distance  |  DBI 1.482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790E79-EA6F-54A9-A355-38ECE8F1B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7E716D6-8F8A-29A4-2B7D-055E530C877E}"/>
              </a:ext>
            </a:extLst>
          </p:cNvPr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7C9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2592E9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759482-869D-19F7-5413-237AB59B0AE0}"/>
              </a:ext>
            </a:extLst>
          </p:cNvPr>
          <p:cNvSpPr txBox="1"/>
          <p:nvPr/>
        </p:nvSpPr>
        <p:spPr>
          <a:xfrm>
            <a:off x="640080" y="408800"/>
            <a:ext cx="1097280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zh-TW" altLang="en-US" sz="3600" b="0">
                <a:solidFill>
                  <a:srgbClr val="FFFFFF"/>
                </a:solidFill>
                <a:latin typeface="標楷體"/>
              </a:rPr>
              <a:t>群集中心表</a:t>
            </a:r>
            <a:endParaRPr sz="3600" b="0">
              <a:solidFill>
                <a:srgbClr val="FFFFFF"/>
              </a:solidFill>
              <a:latin typeface="標楷體"/>
            </a:endParaRPr>
          </a:p>
        </p:txBody>
      </p:sp>
      <p:grpSp>
        <p:nvGrpSpPr>
          <p:cNvPr id="22" name="群組 21">
            <a:extLst>
              <a:ext uri="{FF2B5EF4-FFF2-40B4-BE49-F238E27FC236}">
                <a16:creationId xmlns:a16="http://schemas.microsoft.com/office/drawing/2014/main" id="{55856914-D038-BF39-55C4-BF9822A642D9}"/>
              </a:ext>
            </a:extLst>
          </p:cNvPr>
          <p:cNvGrpSpPr/>
          <p:nvPr/>
        </p:nvGrpSpPr>
        <p:grpSpPr>
          <a:xfrm>
            <a:off x="10122131" y="1508760"/>
            <a:ext cx="1978429" cy="4937760"/>
            <a:chOff x="8412480" y="1645919"/>
            <a:chExt cx="3291840" cy="493776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4370B9D-D84E-F375-94C5-4980C10C4EA5}"/>
                </a:ext>
              </a:extLst>
            </p:cNvPr>
            <p:cNvSpPr/>
            <p:nvPr/>
          </p:nvSpPr>
          <p:spPr>
            <a:xfrm>
              <a:off x="8412480" y="1645919"/>
              <a:ext cx="3291840" cy="4937760"/>
            </a:xfrm>
            <a:prstGeom prst="rect">
              <a:avLst/>
            </a:prstGeom>
            <a:solidFill>
              <a:srgbClr val="7C987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7051D15-DDB0-AA60-8C00-D0C6D70238E0}"/>
                </a:ext>
              </a:extLst>
            </p:cNvPr>
            <p:cNvSpPr txBox="1"/>
            <p:nvPr/>
          </p:nvSpPr>
          <p:spPr>
            <a:xfrm>
              <a:off x="8595360" y="1828800"/>
              <a:ext cx="3017520" cy="4572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800" b="1">
                  <a:solidFill>
                    <a:srgbClr val="FFFFFF"/>
                  </a:solidFill>
                  <a:latin typeface="標楷體"/>
                </a:rPr>
                <a:t>如何讀這張圖？</a:t>
              </a:r>
            </a:p>
          </p:txBody>
        </p:sp>
        <p:cxnSp>
          <p:nvCxnSpPr>
            <p:cNvPr id="8" name="Connector 7">
              <a:extLst>
                <a:ext uri="{FF2B5EF4-FFF2-40B4-BE49-F238E27FC236}">
                  <a16:creationId xmlns:a16="http://schemas.microsoft.com/office/drawing/2014/main" id="{D20E65FF-D866-886B-20A2-A480B3198FFC}"/>
                </a:ext>
              </a:extLst>
            </p:cNvPr>
            <p:cNvCxnSpPr/>
            <p:nvPr/>
          </p:nvCxnSpPr>
          <p:spPr>
            <a:xfrm>
              <a:off x="8595360" y="2331720"/>
              <a:ext cx="731520" cy="0"/>
            </a:xfrm>
            <a:prstGeom prst="line">
              <a:avLst/>
            </a:prstGeom>
            <a:ln w="12700">
              <a:solidFill>
                <a:srgbClr val="F5F2E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3E4B7BE-E4EA-9313-55B1-ECB85FBEA560}"/>
                </a:ext>
              </a:extLst>
            </p:cNvPr>
            <p:cNvSpPr txBox="1"/>
            <p:nvPr/>
          </p:nvSpPr>
          <p:spPr>
            <a:xfrm>
              <a:off x="8869680" y="3794760"/>
              <a:ext cx="2743200" cy="16927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endParaRPr sz="1100" b="0">
                <a:solidFill>
                  <a:srgbClr val="F5F2E8"/>
                </a:solidFill>
                <a:latin typeface="微軟正黑體"/>
              </a:endParaRPr>
            </a:p>
          </p:txBody>
        </p:sp>
      </p:grpSp>
      <p:pic>
        <p:nvPicPr>
          <p:cNvPr id="4" name="圖片 3">
            <a:extLst>
              <a:ext uri="{FF2B5EF4-FFF2-40B4-BE49-F238E27FC236}">
                <a16:creationId xmlns:a16="http://schemas.microsoft.com/office/drawing/2014/main" id="{20C876C4-854E-CFEE-E390-BDD69D911C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39" y="1335086"/>
            <a:ext cx="9892207" cy="5350722"/>
          </a:xfrm>
          <a:prstGeom prst="rect">
            <a:avLst/>
          </a:prstGeom>
        </p:spPr>
      </p:pic>
      <p:sp>
        <p:nvSpPr>
          <p:cNvPr id="24" name="TextBox 9">
            <a:extLst>
              <a:ext uri="{FF2B5EF4-FFF2-40B4-BE49-F238E27FC236}">
                <a16:creationId xmlns:a16="http://schemas.microsoft.com/office/drawing/2014/main" id="{A498A8E6-ED95-95F8-6964-39CEF19EDF06}"/>
              </a:ext>
            </a:extLst>
          </p:cNvPr>
          <p:cNvSpPr txBox="1"/>
          <p:nvPr/>
        </p:nvSpPr>
        <p:spPr>
          <a:xfrm>
            <a:off x="10167698" y="2377441"/>
            <a:ext cx="1978429" cy="14003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zh-TW" altLang="en-US" sz="1300" b="1">
                <a:solidFill>
                  <a:srgbClr val="FFFFFF"/>
                </a:solidFill>
                <a:latin typeface="微軟正黑體"/>
              </a:rPr>
              <a:t>數值經 </a:t>
            </a:r>
            <a:r>
              <a:rPr lang="en" sz="1300" b="1">
                <a:solidFill>
                  <a:srgbClr val="FFFFFF"/>
                </a:solidFill>
                <a:latin typeface="微軟正黑體"/>
              </a:rPr>
              <a:t>Z-Score </a:t>
            </a:r>
            <a:r>
              <a:rPr lang="zh-TW" altLang="en-US" sz="1300" b="1">
                <a:solidFill>
                  <a:srgbClr val="FFFFFF"/>
                </a:solidFill>
                <a:latin typeface="微軟正黑體"/>
              </a:rPr>
              <a:t>標準化</a:t>
            </a:r>
          </a:p>
          <a:p>
            <a:endParaRPr lang="zh-TW" altLang="en-US" sz="1300" b="1">
              <a:solidFill>
                <a:srgbClr val="FFFFFF"/>
              </a:solidFill>
              <a:latin typeface="微軟正黑體"/>
            </a:endParaRPr>
          </a:p>
          <a:p>
            <a:r>
              <a:rPr lang="zh-TW" altLang="en-US" sz="1300" b="1">
                <a:solidFill>
                  <a:srgbClr val="FFFFFF"/>
                </a:solidFill>
                <a:latin typeface="微軟正黑體"/>
              </a:rPr>
              <a:t>・ </a:t>
            </a:r>
            <a:r>
              <a:rPr lang="en-US" altLang="zh-TW" sz="1300" b="1">
                <a:solidFill>
                  <a:srgbClr val="FFFFFF"/>
                </a:solidFill>
                <a:latin typeface="微軟正黑體"/>
              </a:rPr>
              <a:t>0 </a:t>
            </a:r>
            <a:r>
              <a:rPr lang="zh-TW" altLang="en-US" sz="1300" b="1">
                <a:solidFill>
                  <a:srgbClr val="FFFFFF"/>
                </a:solidFill>
                <a:latin typeface="微軟正黑體"/>
              </a:rPr>
              <a:t>＝ 整體平均</a:t>
            </a:r>
          </a:p>
          <a:p>
            <a:r>
              <a:rPr lang="zh-TW" altLang="en-US" sz="1300" b="1">
                <a:solidFill>
                  <a:srgbClr val="FFFFFF"/>
                </a:solidFill>
                <a:latin typeface="微軟正黑體"/>
              </a:rPr>
              <a:t>・ 正值 ＝ 高於平均</a:t>
            </a:r>
          </a:p>
          <a:p>
            <a:r>
              <a:rPr lang="zh-TW" altLang="en-US" sz="1300" b="1">
                <a:solidFill>
                  <a:srgbClr val="FFFFFF"/>
                </a:solidFill>
                <a:latin typeface="微軟正黑體"/>
              </a:rPr>
              <a:t>・ 負值 ＝ 低於平均</a:t>
            </a:r>
          </a:p>
          <a:p>
            <a:endParaRPr lang="zh-TW" altLang="en-US" sz="1300" b="1">
              <a:solidFill>
                <a:srgbClr val="FFFFFF"/>
              </a:solidFill>
              <a:latin typeface="微軟正黑體"/>
            </a:endParaRPr>
          </a:p>
          <a:p>
            <a:r>
              <a:rPr lang="en-US" altLang="zh-TW" sz="1300" b="1">
                <a:solidFill>
                  <a:srgbClr val="FFFFFF"/>
                </a:solidFill>
                <a:latin typeface="微軟正黑體"/>
              </a:rPr>
              <a:t>|</a:t>
            </a:r>
            <a:r>
              <a:rPr lang="zh-TW" altLang="en-US" sz="1300" b="1">
                <a:solidFill>
                  <a:srgbClr val="FFFFFF"/>
                </a:solidFill>
                <a:latin typeface="微軟正黑體"/>
              </a:rPr>
              <a:t>數值</a:t>
            </a:r>
            <a:r>
              <a:rPr lang="en-US" altLang="zh-TW" sz="1300" b="1">
                <a:solidFill>
                  <a:srgbClr val="FFFFFF"/>
                </a:solidFill>
                <a:latin typeface="微軟正黑體"/>
              </a:rPr>
              <a:t>| </a:t>
            </a:r>
            <a:r>
              <a:rPr lang="zh-TW" altLang="en-US" sz="1300" b="1">
                <a:solidFill>
                  <a:srgbClr val="FFFFFF"/>
                </a:solidFill>
                <a:latin typeface="微軟正黑體"/>
              </a:rPr>
              <a:t>越大 → 特徵越鮮明</a:t>
            </a:r>
            <a:endParaRPr sz="1300" b="1">
              <a:solidFill>
                <a:srgbClr val="FFFFFF"/>
              </a:solidFill>
              <a:latin typeface="微軟正黑體"/>
            </a:endParaRPr>
          </a:p>
        </p:txBody>
      </p:sp>
      <p:sp>
        <p:nvSpPr>
          <p:cNvPr id="25" name="TextBox 9">
            <a:extLst>
              <a:ext uri="{FF2B5EF4-FFF2-40B4-BE49-F238E27FC236}">
                <a16:creationId xmlns:a16="http://schemas.microsoft.com/office/drawing/2014/main" id="{193C78FF-C468-B5E5-2919-98DA91827B75}"/>
              </a:ext>
            </a:extLst>
          </p:cNvPr>
          <p:cNvSpPr txBox="1"/>
          <p:nvPr/>
        </p:nvSpPr>
        <p:spPr>
          <a:xfrm>
            <a:off x="10201299" y="3887316"/>
            <a:ext cx="1978429" cy="240065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endParaRPr lang="zh-TW" altLang="en-US" sz="1300" b="1">
              <a:solidFill>
                <a:srgbClr val="FFFFFF"/>
              </a:solidFill>
              <a:latin typeface="微軟正黑體"/>
            </a:endParaRPr>
          </a:p>
          <a:p>
            <a:r>
              <a:rPr lang="en" altLang="zh-TW" sz="1300" b="1">
                <a:solidFill>
                  <a:srgbClr val="FFFFFF"/>
                </a:solidFill>
                <a:latin typeface="微軟正黑體"/>
              </a:rPr>
              <a:t>cluster_0 </a:t>
            </a:r>
            <a:r>
              <a:rPr lang="zh-TW" altLang="en-US" sz="1300" b="1">
                <a:solidFill>
                  <a:srgbClr val="FFFFFF"/>
                </a:solidFill>
                <a:latin typeface="微軟正黑體"/>
              </a:rPr>
              <a:t>都會文化型</a:t>
            </a:r>
          </a:p>
          <a:p>
            <a:r>
              <a:rPr lang="zh-TW" altLang="en-US" sz="1300" b="1">
                <a:solidFill>
                  <a:srgbClr val="FFFFFF"/>
                </a:solidFill>
                <a:latin typeface="微軟正黑體"/>
              </a:rPr>
              <a:t>　高 都會 </a:t>
            </a:r>
            <a:r>
              <a:rPr lang="en-US" altLang="zh-TW" sz="1300" b="1">
                <a:solidFill>
                  <a:srgbClr val="FFFFFF"/>
                </a:solidFill>
                <a:latin typeface="微軟正黑體"/>
              </a:rPr>
              <a:t>/ </a:t>
            </a:r>
            <a:r>
              <a:rPr lang="zh-TW" altLang="en-US" sz="1300" b="1">
                <a:solidFill>
                  <a:srgbClr val="FFFFFF"/>
                </a:solidFill>
                <a:latin typeface="微軟正黑體"/>
              </a:rPr>
              <a:t>夜生活 </a:t>
            </a:r>
            <a:r>
              <a:rPr lang="en-US" altLang="zh-TW" sz="1300" b="1">
                <a:solidFill>
                  <a:srgbClr val="FFFFFF"/>
                </a:solidFill>
                <a:latin typeface="微軟正黑體"/>
              </a:rPr>
              <a:t>/ </a:t>
            </a:r>
            <a:r>
              <a:rPr lang="zh-TW" altLang="en-US" sz="1300" b="1">
                <a:solidFill>
                  <a:srgbClr val="FFFFFF"/>
                </a:solidFill>
                <a:latin typeface="微軟正黑體"/>
              </a:rPr>
              <a:t>美食</a:t>
            </a:r>
          </a:p>
          <a:p>
            <a:endParaRPr lang="zh-TW" altLang="en-US" sz="1300" b="1">
              <a:solidFill>
                <a:srgbClr val="FFFFFF"/>
              </a:solidFill>
              <a:latin typeface="微軟正黑體"/>
            </a:endParaRPr>
          </a:p>
          <a:p>
            <a:r>
              <a:rPr lang="en" altLang="zh-TW" sz="1300" b="1">
                <a:solidFill>
                  <a:srgbClr val="FFFFFF"/>
                </a:solidFill>
                <a:latin typeface="微軟正黑體"/>
              </a:rPr>
              <a:t>cluster_1 </a:t>
            </a:r>
            <a:r>
              <a:rPr lang="zh-TW" altLang="en-US" sz="1300" b="1">
                <a:solidFill>
                  <a:srgbClr val="FFFFFF"/>
                </a:solidFill>
                <a:latin typeface="微軟正黑體"/>
              </a:rPr>
              <a:t>平穩慢遊型</a:t>
            </a:r>
          </a:p>
          <a:p>
            <a:r>
              <a:rPr lang="zh-TW" altLang="en-US" sz="1300" b="1">
                <a:solidFill>
                  <a:srgbClr val="FFFFFF"/>
                </a:solidFill>
                <a:latin typeface="微軟正黑體"/>
              </a:rPr>
              <a:t>　所有維度接近 </a:t>
            </a:r>
            <a:r>
              <a:rPr lang="en-US" altLang="zh-TW" sz="1300" b="1">
                <a:solidFill>
                  <a:srgbClr val="FFFFFF"/>
                </a:solidFill>
                <a:latin typeface="微軟正黑體"/>
              </a:rPr>
              <a:t>0</a:t>
            </a:r>
          </a:p>
          <a:p>
            <a:endParaRPr lang="en-US" altLang="zh-TW" sz="1300" b="1">
              <a:solidFill>
                <a:srgbClr val="FFFFFF"/>
              </a:solidFill>
              <a:latin typeface="微軟正黑體"/>
            </a:endParaRPr>
          </a:p>
          <a:p>
            <a:r>
              <a:rPr lang="en" altLang="zh-TW" sz="1300" b="1">
                <a:solidFill>
                  <a:srgbClr val="FFFFFF"/>
                </a:solidFill>
                <a:latin typeface="微軟正黑體"/>
              </a:rPr>
              <a:t>cluster_2 </a:t>
            </a:r>
            <a:r>
              <a:rPr lang="zh-TW" altLang="en-US" sz="1300" b="1">
                <a:solidFill>
                  <a:srgbClr val="FFFFFF"/>
                </a:solidFill>
                <a:latin typeface="微軟正黑體"/>
              </a:rPr>
              <a:t>自然冒險型</a:t>
            </a:r>
          </a:p>
          <a:p>
            <a:r>
              <a:rPr lang="zh-TW" altLang="en-US" sz="1300" b="1">
                <a:solidFill>
                  <a:srgbClr val="FFFFFF"/>
                </a:solidFill>
                <a:latin typeface="微軟正黑體"/>
              </a:rPr>
              <a:t>　高 自然 </a:t>
            </a:r>
            <a:r>
              <a:rPr lang="en-US" altLang="zh-TW" sz="1300" b="1">
                <a:solidFill>
                  <a:srgbClr val="FFFFFF"/>
                </a:solidFill>
                <a:latin typeface="微軟正黑體"/>
              </a:rPr>
              <a:t>/ </a:t>
            </a:r>
            <a:r>
              <a:rPr lang="zh-TW" altLang="en-US" sz="1300" b="1">
                <a:solidFill>
                  <a:srgbClr val="FFFFFF"/>
                </a:solidFill>
                <a:latin typeface="微軟正黑體"/>
              </a:rPr>
              <a:t>冒險 </a:t>
            </a:r>
            <a:r>
              <a:rPr lang="en-US" altLang="zh-TW" sz="1300" b="1">
                <a:solidFill>
                  <a:srgbClr val="FFFFFF"/>
                </a:solidFill>
                <a:latin typeface="微軟正黑體"/>
              </a:rPr>
              <a:t>/ </a:t>
            </a:r>
            <a:r>
              <a:rPr lang="zh-TW" altLang="en-US" sz="1300" b="1">
                <a:solidFill>
                  <a:srgbClr val="FFFFFF"/>
                </a:solidFill>
                <a:latin typeface="微軟正黑體"/>
              </a:rPr>
              <a:t>隱密</a:t>
            </a:r>
          </a:p>
          <a:p>
            <a:endParaRPr lang="zh-TW" altLang="en-US" sz="1300" b="1">
              <a:solidFill>
                <a:srgbClr val="FFFFFF"/>
              </a:solidFill>
              <a:latin typeface="微軟正黑體"/>
            </a:endParaRPr>
          </a:p>
          <a:p>
            <a:r>
              <a:rPr lang="en" altLang="zh-TW" sz="1300" b="1">
                <a:solidFill>
                  <a:srgbClr val="FFFFFF"/>
                </a:solidFill>
                <a:latin typeface="微軟正黑體"/>
              </a:rPr>
              <a:t>cluster_3 </a:t>
            </a:r>
            <a:r>
              <a:rPr lang="zh-TW" altLang="en-US" sz="1300" b="1">
                <a:solidFill>
                  <a:srgbClr val="FFFFFF"/>
                </a:solidFill>
                <a:latin typeface="微軟正黑體"/>
              </a:rPr>
              <a:t>海濱療癒型</a:t>
            </a:r>
          </a:p>
          <a:p>
            <a:r>
              <a:rPr lang="zh-TW" altLang="en-US" sz="1300" b="1">
                <a:solidFill>
                  <a:srgbClr val="FFFFFF"/>
                </a:solidFill>
                <a:latin typeface="微軟正黑體"/>
              </a:rPr>
              <a:t>　高 海灘 </a:t>
            </a:r>
            <a:r>
              <a:rPr lang="en-US" altLang="zh-TW" sz="1300" b="1">
                <a:solidFill>
                  <a:srgbClr val="FFFFFF"/>
                </a:solidFill>
                <a:latin typeface="微軟正黑體"/>
              </a:rPr>
              <a:t>/ </a:t>
            </a:r>
            <a:r>
              <a:rPr lang="zh-TW" altLang="en-US" sz="1300" b="1">
                <a:solidFill>
                  <a:srgbClr val="FFFFFF"/>
                </a:solidFill>
                <a:latin typeface="微軟正黑體"/>
              </a:rPr>
              <a:t>療癒</a:t>
            </a:r>
          </a:p>
        </p:txBody>
      </p:sp>
    </p:spTree>
    <p:extLst>
      <p:ext uri="{BB962C8B-B14F-4D97-AF65-F5344CB8AC3E}">
        <p14:creationId xmlns:p14="http://schemas.microsoft.com/office/powerpoint/2010/main" val="6562805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7C9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2592E9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408800"/>
            <a:ext cx="1097280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zh-TW" altLang="en-US" sz="3600" b="0">
                <a:solidFill>
                  <a:srgbClr val="FFFFFF"/>
                </a:solidFill>
                <a:latin typeface="標楷體"/>
              </a:rPr>
              <a:t>群集折線圖</a:t>
            </a:r>
            <a:endParaRPr sz="3600" b="0">
              <a:solidFill>
                <a:srgbClr val="FFFFFF"/>
              </a:solidFill>
              <a:latin typeface="標楷體"/>
            </a:endParaRPr>
          </a:p>
        </p:txBody>
      </p:sp>
      <p:grpSp>
        <p:nvGrpSpPr>
          <p:cNvPr id="22" name="群組 21">
            <a:extLst>
              <a:ext uri="{FF2B5EF4-FFF2-40B4-BE49-F238E27FC236}">
                <a16:creationId xmlns:a16="http://schemas.microsoft.com/office/drawing/2014/main" id="{68062B5C-4503-A84F-9672-E456A75D3E4E}"/>
              </a:ext>
            </a:extLst>
          </p:cNvPr>
          <p:cNvGrpSpPr/>
          <p:nvPr/>
        </p:nvGrpSpPr>
        <p:grpSpPr>
          <a:xfrm>
            <a:off x="10122131" y="1508760"/>
            <a:ext cx="1978429" cy="4937760"/>
            <a:chOff x="8412480" y="1645919"/>
            <a:chExt cx="3291840" cy="4937760"/>
          </a:xfrm>
        </p:grpSpPr>
        <p:sp>
          <p:nvSpPr>
            <p:cNvPr id="6" name="Rectangle 5"/>
            <p:cNvSpPr/>
            <p:nvPr/>
          </p:nvSpPr>
          <p:spPr>
            <a:xfrm>
              <a:off x="8412480" y="1645919"/>
              <a:ext cx="3291840" cy="4937760"/>
            </a:xfrm>
            <a:prstGeom prst="rect">
              <a:avLst/>
            </a:prstGeom>
            <a:solidFill>
              <a:srgbClr val="7C987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595360" y="1828800"/>
              <a:ext cx="3017520" cy="4572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800" b="1">
                  <a:solidFill>
                    <a:srgbClr val="FFFFFF"/>
                  </a:solidFill>
                  <a:latin typeface="標楷體"/>
                </a:rPr>
                <a:t>如何讀這張圖？</a:t>
              </a:r>
            </a:p>
          </p:txBody>
        </p:sp>
        <p:cxnSp>
          <p:nvCxnSpPr>
            <p:cNvPr id="8" name="Connector 7"/>
            <p:cNvCxnSpPr/>
            <p:nvPr/>
          </p:nvCxnSpPr>
          <p:spPr>
            <a:xfrm>
              <a:off x="8595360" y="2331720"/>
              <a:ext cx="731520" cy="0"/>
            </a:xfrm>
            <a:prstGeom prst="line">
              <a:avLst/>
            </a:prstGeom>
            <a:ln w="12700">
              <a:solidFill>
                <a:srgbClr val="F5F2E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 8"/>
            <p:cNvSpPr/>
            <p:nvPr/>
          </p:nvSpPr>
          <p:spPr>
            <a:xfrm>
              <a:off x="8595360" y="2624327"/>
              <a:ext cx="182880" cy="182880"/>
            </a:xfrm>
            <a:prstGeom prst="rect">
              <a:avLst/>
            </a:prstGeom>
            <a:solidFill>
              <a:srgbClr val="2592E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rgbClr val="2592E9"/>
                </a:solidFill>
                <a:highlight>
                  <a:srgbClr val="2592E9"/>
                </a:highlight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869680" y="2560320"/>
              <a:ext cx="2743200" cy="3200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300" b="1">
                  <a:solidFill>
                    <a:srgbClr val="FFFFFF"/>
                  </a:solidFill>
                  <a:latin typeface="微軟正黑體"/>
                </a:rPr>
                <a:t>都會文化型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869680" y="2926079"/>
              <a:ext cx="2743200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00" b="0">
                  <a:solidFill>
                    <a:srgbClr val="F5F2E8"/>
                  </a:solidFill>
                  <a:latin typeface="微軟正黑體"/>
                </a:rPr>
                <a:t>高都會＋高文化＋高美食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8595360" y="3493008"/>
              <a:ext cx="182880" cy="182880"/>
            </a:xfrm>
            <a:prstGeom prst="rect">
              <a:avLst/>
            </a:prstGeom>
            <a:solidFill>
              <a:srgbClr val="06E87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8869680" y="3429000"/>
              <a:ext cx="2743200" cy="3200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300" b="1">
                  <a:solidFill>
                    <a:srgbClr val="FFFFFF"/>
                  </a:solidFill>
                  <a:latin typeface="微軟正黑體"/>
                </a:rPr>
                <a:t>平穩慢遊型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869680" y="3794760"/>
              <a:ext cx="2743200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00" b="0">
                  <a:solidFill>
                    <a:srgbClr val="F5F2E8"/>
                  </a:solidFill>
                  <a:latin typeface="微軟正黑體"/>
                </a:rPr>
                <a:t>全部接近平均、無極端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8595360" y="4361688"/>
              <a:ext cx="182880" cy="182880"/>
            </a:xfrm>
            <a:prstGeom prst="rect">
              <a:avLst/>
            </a:prstGeom>
            <a:solidFill>
              <a:srgbClr val="B5E70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869680" y="4297679"/>
              <a:ext cx="2743200" cy="3200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300" b="1">
                  <a:solidFill>
                    <a:srgbClr val="FFFFFF"/>
                  </a:solidFill>
                  <a:latin typeface="微軟正黑體"/>
                </a:rPr>
                <a:t>自然冒險型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869680" y="4663440"/>
              <a:ext cx="2743200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00" b="0">
                  <a:solidFill>
                    <a:srgbClr val="F5F2E8"/>
                  </a:solidFill>
                  <a:latin typeface="微軟正黑體"/>
                </a:rPr>
                <a:t>高自然＋高冒險＋高隱密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8595360" y="5230368"/>
              <a:ext cx="182880" cy="182880"/>
            </a:xfrm>
            <a:prstGeom prst="rect">
              <a:avLst/>
            </a:prstGeom>
            <a:solidFill>
              <a:srgbClr val="FC393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8869680" y="5166359"/>
              <a:ext cx="2743200" cy="3200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300" b="1">
                  <a:solidFill>
                    <a:srgbClr val="FFFFFF"/>
                  </a:solidFill>
                  <a:latin typeface="微軟正黑體"/>
                </a:rPr>
                <a:t>海濱療癒型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869680" y="5532120"/>
              <a:ext cx="2743200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00" b="0">
                  <a:solidFill>
                    <a:srgbClr val="F5F2E8"/>
                  </a:solidFill>
                  <a:latin typeface="微軟正黑體"/>
                </a:rPr>
                <a:t>高海灘＋高療癒＋高自然</a:t>
              </a:r>
            </a:p>
          </p:txBody>
        </p:sp>
      </p:grpSp>
      <p:pic>
        <p:nvPicPr>
          <p:cNvPr id="21" name="圖片 20">
            <a:extLst>
              <a:ext uri="{FF2B5EF4-FFF2-40B4-BE49-F238E27FC236}">
                <a16:creationId xmlns:a16="http://schemas.microsoft.com/office/drawing/2014/main" id="{448E5505-6973-B0FD-AC4A-A7F74F1730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39" y="1345016"/>
            <a:ext cx="9975735" cy="5388293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E64F0A-9B4C-7F82-88FB-ED3DAC56E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4343210-B396-875E-2654-0A962D293020}"/>
              </a:ext>
            </a:extLst>
          </p:cNvPr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7C9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2592E9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342ACA-8273-586E-0C59-60EC4F047DC3}"/>
              </a:ext>
            </a:extLst>
          </p:cNvPr>
          <p:cNvSpPr txBox="1"/>
          <p:nvPr/>
        </p:nvSpPr>
        <p:spPr>
          <a:xfrm>
            <a:off x="640080" y="408800"/>
            <a:ext cx="1097280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zh-TW" altLang="en-US" sz="3600" b="0">
                <a:solidFill>
                  <a:srgbClr val="FFFFFF"/>
                </a:solidFill>
                <a:latin typeface="標楷體"/>
              </a:rPr>
              <a:t>群集</a:t>
            </a:r>
            <a:r>
              <a:rPr lang="zh-TW" altLang="en-US" sz="3600">
                <a:solidFill>
                  <a:srgbClr val="FFFFFF"/>
                </a:solidFill>
                <a:latin typeface="標楷體"/>
              </a:rPr>
              <a:t>交叉表</a:t>
            </a:r>
            <a:endParaRPr sz="3600" b="0">
              <a:solidFill>
                <a:srgbClr val="FFFFFF"/>
              </a:solidFill>
              <a:latin typeface="標楷體"/>
            </a:endParaRPr>
          </a:p>
        </p:txBody>
      </p:sp>
      <p:grpSp>
        <p:nvGrpSpPr>
          <p:cNvPr id="22" name="群組 21">
            <a:extLst>
              <a:ext uri="{FF2B5EF4-FFF2-40B4-BE49-F238E27FC236}">
                <a16:creationId xmlns:a16="http://schemas.microsoft.com/office/drawing/2014/main" id="{CD8A3C67-E1AB-0A9D-00F3-2094E8F8B7B8}"/>
              </a:ext>
            </a:extLst>
          </p:cNvPr>
          <p:cNvGrpSpPr/>
          <p:nvPr/>
        </p:nvGrpSpPr>
        <p:grpSpPr>
          <a:xfrm>
            <a:off x="10122131" y="1508760"/>
            <a:ext cx="1978429" cy="4937760"/>
            <a:chOff x="8412480" y="1645919"/>
            <a:chExt cx="3291840" cy="493776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9C09DB3-AAAA-11CF-0320-6453B505DE42}"/>
                </a:ext>
              </a:extLst>
            </p:cNvPr>
            <p:cNvSpPr/>
            <p:nvPr/>
          </p:nvSpPr>
          <p:spPr>
            <a:xfrm>
              <a:off x="8412480" y="1645919"/>
              <a:ext cx="3291840" cy="4937760"/>
            </a:xfrm>
            <a:prstGeom prst="rect">
              <a:avLst/>
            </a:prstGeom>
            <a:solidFill>
              <a:srgbClr val="7C987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9F6A620-FEDC-58C1-CB37-A7F3A1DAFAE1}"/>
                </a:ext>
              </a:extLst>
            </p:cNvPr>
            <p:cNvSpPr txBox="1"/>
            <p:nvPr/>
          </p:nvSpPr>
          <p:spPr>
            <a:xfrm>
              <a:off x="8595360" y="1828800"/>
              <a:ext cx="3017520" cy="4572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800" b="1">
                  <a:solidFill>
                    <a:srgbClr val="FFFFFF"/>
                  </a:solidFill>
                  <a:latin typeface="標楷體"/>
                </a:rPr>
                <a:t>如何讀這張圖？</a:t>
              </a:r>
            </a:p>
          </p:txBody>
        </p:sp>
        <p:cxnSp>
          <p:nvCxnSpPr>
            <p:cNvPr id="8" name="Connector 7">
              <a:extLst>
                <a:ext uri="{FF2B5EF4-FFF2-40B4-BE49-F238E27FC236}">
                  <a16:creationId xmlns:a16="http://schemas.microsoft.com/office/drawing/2014/main" id="{D13C3F4D-E7D9-B25D-05F0-94D1B42B1789}"/>
                </a:ext>
              </a:extLst>
            </p:cNvPr>
            <p:cNvCxnSpPr/>
            <p:nvPr/>
          </p:nvCxnSpPr>
          <p:spPr>
            <a:xfrm>
              <a:off x="8595360" y="2331720"/>
              <a:ext cx="731520" cy="0"/>
            </a:xfrm>
            <a:prstGeom prst="line">
              <a:avLst/>
            </a:prstGeom>
            <a:ln w="12700">
              <a:solidFill>
                <a:srgbClr val="F5F2E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圖片 4">
            <a:extLst>
              <a:ext uri="{FF2B5EF4-FFF2-40B4-BE49-F238E27FC236}">
                <a16:creationId xmlns:a16="http://schemas.microsoft.com/office/drawing/2014/main" id="{71BED6BA-6627-BBA6-1DD8-E9A779FE75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2423161"/>
            <a:ext cx="9800705" cy="3437719"/>
          </a:xfrm>
          <a:prstGeom prst="rect">
            <a:avLst/>
          </a:prstGeom>
        </p:spPr>
      </p:pic>
      <p:sp>
        <p:nvSpPr>
          <p:cNvPr id="23" name="TextBox 9">
            <a:extLst>
              <a:ext uri="{FF2B5EF4-FFF2-40B4-BE49-F238E27FC236}">
                <a16:creationId xmlns:a16="http://schemas.microsoft.com/office/drawing/2014/main" id="{F79B744B-9A0B-AA9B-24C1-B57E54448165}"/>
              </a:ext>
            </a:extLst>
          </p:cNvPr>
          <p:cNvSpPr txBox="1"/>
          <p:nvPr/>
        </p:nvSpPr>
        <p:spPr>
          <a:xfrm>
            <a:off x="10213571" y="2331722"/>
            <a:ext cx="1978429" cy="38010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zh-TW" altLang="en-US" sz="1300" b="1">
                <a:solidFill>
                  <a:srgbClr val="FFFFFF"/>
                </a:solidFill>
                <a:latin typeface="微軟正黑體"/>
              </a:rPr>
              <a:t>都會文化型 </a:t>
            </a:r>
            <a:r>
              <a:rPr lang="en-US" altLang="zh-TW" sz="1300" b="1">
                <a:solidFill>
                  <a:srgbClr val="FFFFFF"/>
                </a:solidFill>
                <a:latin typeface="微軟正黑體"/>
              </a:rPr>
              <a:t>195</a:t>
            </a:r>
          </a:p>
          <a:p>
            <a:r>
              <a:rPr lang="zh-TW" altLang="en-US" sz="1300">
                <a:solidFill>
                  <a:srgbClr val="FFFFFF"/>
                </a:solidFill>
                <a:latin typeface="微軟正黑體"/>
              </a:rPr>
              <a:t>中階 </a:t>
            </a:r>
            <a:r>
              <a:rPr lang="en-US" altLang="zh-TW" sz="1300">
                <a:solidFill>
                  <a:srgbClr val="FFFFFF"/>
                </a:solidFill>
                <a:latin typeface="微軟正黑體"/>
              </a:rPr>
              <a:t>137 </a:t>
            </a:r>
            <a:r>
              <a:rPr lang="zh-TW" altLang="en-US" sz="1300">
                <a:solidFill>
                  <a:srgbClr val="FFFFFF"/>
                </a:solidFill>
                <a:latin typeface="微軟正黑體"/>
              </a:rPr>
              <a:t>為最大宗</a:t>
            </a:r>
          </a:p>
          <a:p>
            <a:r>
              <a:rPr lang="zh-TW" altLang="en-US" sz="1300">
                <a:solidFill>
                  <a:srgbClr val="FFFFFF"/>
                </a:solidFill>
                <a:latin typeface="微軟正黑體"/>
              </a:rPr>
              <a:t>反映此型兼具旅遊便利、</a:t>
            </a:r>
          </a:p>
          <a:p>
            <a:r>
              <a:rPr lang="zh-TW" altLang="en-US" sz="1300">
                <a:solidFill>
                  <a:srgbClr val="FFFFFF"/>
                </a:solidFill>
                <a:latin typeface="微軟正黑體"/>
              </a:rPr>
              <a:t>文化體驗與可負擔預算</a:t>
            </a:r>
          </a:p>
          <a:p>
            <a:endParaRPr lang="zh-TW" altLang="en-US" sz="1300" b="1">
              <a:solidFill>
                <a:srgbClr val="FFFFFF"/>
              </a:solidFill>
              <a:latin typeface="微軟正黑體"/>
            </a:endParaRPr>
          </a:p>
          <a:p>
            <a:r>
              <a:rPr lang="zh-TW" altLang="en-US" sz="1300" b="1">
                <a:solidFill>
                  <a:srgbClr val="FFFFFF"/>
                </a:solidFill>
                <a:latin typeface="微軟正黑體"/>
              </a:rPr>
              <a:t>平穩慢遊型 </a:t>
            </a:r>
            <a:r>
              <a:rPr lang="en-US" altLang="zh-TW" sz="1300" b="1">
                <a:solidFill>
                  <a:srgbClr val="FFFFFF"/>
                </a:solidFill>
                <a:latin typeface="微軟正黑體"/>
              </a:rPr>
              <a:t>161</a:t>
            </a:r>
          </a:p>
          <a:p>
            <a:r>
              <a:rPr lang="zh-TW" altLang="en-US" sz="1300">
                <a:solidFill>
                  <a:srgbClr val="FFFFFF"/>
                </a:solidFill>
                <a:latin typeface="微軟正黑體"/>
              </a:rPr>
              <a:t>平價與中階近五成</a:t>
            </a:r>
          </a:p>
          <a:p>
            <a:r>
              <a:rPr lang="zh-TW" altLang="en-US" sz="1300">
                <a:solidFill>
                  <a:srgbClr val="FFFFFF"/>
                </a:solidFill>
                <a:latin typeface="微軟正黑體"/>
              </a:rPr>
              <a:t>奢華僅 </a:t>
            </a:r>
            <a:r>
              <a:rPr lang="en-US" altLang="zh-TW" sz="1300">
                <a:solidFill>
                  <a:srgbClr val="FFFFFF"/>
                </a:solidFill>
                <a:latin typeface="微軟正黑體"/>
              </a:rPr>
              <a:t>6</a:t>
            </a:r>
          </a:p>
          <a:p>
            <a:r>
              <a:rPr lang="zh-TW" altLang="en-US" sz="1300">
                <a:solidFill>
                  <a:srgbClr val="FFFFFF"/>
                </a:solidFill>
                <a:latin typeface="微軟正黑體"/>
              </a:rPr>
              <a:t>適合低預算或長停留旅程</a:t>
            </a:r>
          </a:p>
          <a:p>
            <a:endParaRPr lang="zh-TW" altLang="en-US" sz="1300" b="1">
              <a:solidFill>
                <a:srgbClr val="FFFFFF"/>
              </a:solidFill>
              <a:latin typeface="微軟正黑體"/>
            </a:endParaRPr>
          </a:p>
          <a:p>
            <a:r>
              <a:rPr lang="zh-TW" altLang="en-US" sz="1300" b="1">
                <a:solidFill>
                  <a:srgbClr val="FFFFFF"/>
                </a:solidFill>
                <a:latin typeface="微軟正黑體"/>
              </a:rPr>
              <a:t>自然冒險型 </a:t>
            </a:r>
            <a:r>
              <a:rPr lang="en-US" altLang="zh-TW" sz="1300" b="1">
                <a:solidFill>
                  <a:srgbClr val="FFFFFF"/>
                </a:solidFill>
                <a:latin typeface="微軟正黑體"/>
              </a:rPr>
              <a:t>104</a:t>
            </a:r>
          </a:p>
          <a:p>
            <a:r>
              <a:rPr lang="zh-TW" altLang="en-US" sz="1300">
                <a:solidFill>
                  <a:srgbClr val="FFFFFF"/>
                </a:solidFill>
                <a:latin typeface="微軟正黑體"/>
              </a:rPr>
              <a:t>三種預算分布最平均</a:t>
            </a:r>
          </a:p>
          <a:p>
            <a:r>
              <a:rPr lang="zh-TW" altLang="en-US" sz="1300">
                <a:solidFill>
                  <a:srgbClr val="FFFFFF"/>
                </a:solidFill>
                <a:latin typeface="微軟正黑體"/>
              </a:rPr>
              <a:t>任何預算都能找到</a:t>
            </a:r>
          </a:p>
          <a:p>
            <a:r>
              <a:rPr lang="zh-TW" altLang="en-US" sz="1300">
                <a:solidFill>
                  <a:srgbClr val="FFFFFF"/>
                </a:solidFill>
                <a:latin typeface="微軟正黑體"/>
              </a:rPr>
              <a:t>偏好戶外探索的目的地</a:t>
            </a:r>
          </a:p>
          <a:p>
            <a:endParaRPr lang="zh-TW" altLang="en-US" sz="1300" b="1">
              <a:solidFill>
                <a:srgbClr val="FFFFFF"/>
              </a:solidFill>
              <a:latin typeface="微軟正黑體"/>
            </a:endParaRPr>
          </a:p>
          <a:p>
            <a:r>
              <a:rPr lang="zh-TW" altLang="en-US" sz="1300" b="1">
                <a:solidFill>
                  <a:srgbClr val="FFFFFF"/>
                </a:solidFill>
                <a:latin typeface="微軟正黑體"/>
              </a:rPr>
              <a:t>海濱療癒型 </a:t>
            </a:r>
            <a:r>
              <a:rPr lang="en-US" altLang="zh-TW" sz="1300" b="1">
                <a:solidFill>
                  <a:srgbClr val="FFFFFF"/>
                </a:solidFill>
                <a:latin typeface="微軟正黑體"/>
              </a:rPr>
              <a:t>100</a:t>
            </a:r>
          </a:p>
          <a:p>
            <a:r>
              <a:rPr lang="zh-TW" altLang="en-US" sz="1300">
                <a:solidFill>
                  <a:srgbClr val="FFFFFF"/>
                </a:solidFill>
                <a:latin typeface="微軟正黑體"/>
              </a:rPr>
              <a:t>平價僅 </a:t>
            </a:r>
            <a:r>
              <a:rPr lang="en-US" altLang="zh-TW" sz="1300">
                <a:solidFill>
                  <a:srgbClr val="FFFFFF"/>
                </a:solidFill>
                <a:latin typeface="微軟正黑體"/>
              </a:rPr>
              <a:t>11</a:t>
            </a:r>
          </a:p>
          <a:p>
            <a:r>
              <a:rPr lang="zh-TW" altLang="en-US" sz="1300">
                <a:solidFill>
                  <a:srgbClr val="FFFFFF"/>
                </a:solidFill>
                <a:latin typeface="微軟正黑體"/>
              </a:rPr>
              <a:t>海島成本門檻較高</a:t>
            </a:r>
          </a:p>
          <a:p>
            <a:r>
              <a:rPr lang="zh-TW" altLang="en-US" sz="1300">
                <a:solidFill>
                  <a:srgbClr val="FFFFFF"/>
                </a:solidFill>
                <a:latin typeface="微軟正黑體"/>
              </a:rPr>
              <a:t>集中於中階與奢華</a:t>
            </a:r>
            <a:endParaRPr sz="1300">
              <a:solidFill>
                <a:srgbClr val="FFFFFF"/>
              </a:solidFill>
              <a:latin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3634254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5CBFD2-9853-F7E3-9FEB-AE022BBDA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EB5B574-5316-63F5-C5B4-145FBC15A152}"/>
              </a:ext>
            </a:extLst>
          </p:cNvPr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7C9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2592E9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6D1062-8A8A-254E-9341-87275A242640}"/>
              </a:ext>
            </a:extLst>
          </p:cNvPr>
          <p:cNvSpPr txBox="1"/>
          <p:nvPr/>
        </p:nvSpPr>
        <p:spPr>
          <a:xfrm>
            <a:off x="640080" y="408800"/>
            <a:ext cx="1097280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zh-TW" altLang="en-US" sz="3600">
                <a:solidFill>
                  <a:srgbClr val="FFFFFF"/>
                </a:solidFill>
                <a:latin typeface="標楷體"/>
              </a:rPr>
              <a:t>群集組合清單</a:t>
            </a:r>
            <a:endParaRPr sz="3600" b="0">
              <a:solidFill>
                <a:srgbClr val="FFFFFF"/>
              </a:solidFill>
              <a:latin typeface="標楷體"/>
            </a:endParaRPr>
          </a:p>
        </p:txBody>
      </p:sp>
      <p:grpSp>
        <p:nvGrpSpPr>
          <p:cNvPr id="22" name="群組 21">
            <a:extLst>
              <a:ext uri="{FF2B5EF4-FFF2-40B4-BE49-F238E27FC236}">
                <a16:creationId xmlns:a16="http://schemas.microsoft.com/office/drawing/2014/main" id="{E30E1E20-3B42-0338-70C8-73A7AFFD23BB}"/>
              </a:ext>
            </a:extLst>
          </p:cNvPr>
          <p:cNvGrpSpPr/>
          <p:nvPr/>
        </p:nvGrpSpPr>
        <p:grpSpPr>
          <a:xfrm>
            <a:off x="10122131" y="1508760"/>
            <a:ext cx="1978429" cy="4937760"/>
            <a:chOff x="8412480" y="1645919"/>
            <a:chExt cx="3291840" cy="493776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4A906AD-EDB3-B5DA-3B8F-99A125B55B50}"/>
                </a:ext>
              </a:extLst>
            </p:cNvPr>
            <p:cNvSpPr/>
            <p:nvPr/>
          </p:nvSpPr>
          <p:spPr>
            <a:xfrm>
              <a:off x="8412480" y="1645919"/>
              <a:ext cx="3291840" cy="4937760"/>
            </a:xfrm>
            <a:prstGeom prst="rect">
              <a:avLst/>
            </a:prstGeom>
            <a:solidFill>
              <a:srgbClr val="7C987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320CA36-1F7C-8263-C316-CE0DA19F1DD3}"/>
                </a:ext>
              </a:extLst>
            </p:cNvPr>
            <p:cNvSpPr txBox="1"/>
            <p:nvPr/>
          </p:nvSpPr>
          <p:spPr>
            <a:xfrm>
              <a:off x="8595360" y="1828800"/>
              <a:ext cx="3017520" cy="4572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800" b="1">
                  <a:solidFill>
                    <a:srgbClr val="FFFFFF"/>
                  </a:solidFill>
                  <a:latin typeface="標楷體"/>
                </a:rPr>
                <a:t>如何讀這張圖？</a:t>
              </a:r>
            </a:p>
          </p:txBody>
        </p:sp>
        <p:cxnSp>
          <p:nvCxnSpPr>
            <p:cNvPr id="8" name="Connector 7">
              <a:extLst>
                <a:ext uri="{FF2B5EF4-FFF2-40B4-BE49-F238E27FC236}">
                  <a16:creationId xmlns:a16="http://schemas.microsoft.com/office/drawing/2014/main" id="{F4BC7E65-C573-7584-5662-71895ADBB4B3}"/>
                </a:ext>
              </a:extLst>
            </p:cNvPr>
            <p:cNvCxnSpPr/>
            <p:nvPr/>
          </p:nvCxnSpPr>
          <p:spPr>
            <a:xfrm>
              <a:off x="8595360" y="2331720"/>
              <a:ext cx="731520" cy="0"/>
            </a:xfrm>
            <a:prstGeom prst="line">
              <a:avLst/>
            </a:prstGeom>
            <a:ln w="12700">
              <a:solidFill>
                <a:srgbClr val="F5F2E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圖片 3">
            <a:extLst>
              <a:ext uri="{FF2B5EF4-FFF2-40B4-BE49-F238E27FC236}">
                <a16:creationId xmlns:a16="http://schemas.microsoft.com/office/drawing/2014/main" id="{F37A50FB-568D-BB4E-224D-EB06006EB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245" y="1793175"/>
            <a:ext cx="9652857" cy="4118958"/>
          </a:xfrm>
          <a:prstGeom prst="rect">
            <a:avLst/>
          </a:prstGeom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12F2C8BD-F581-E173-CDA5-AE2B61FE7A80}"/>
              </a:ext>
            </a:extLst>
          </p:cNvPr>
          <p:cNvSpPr txBox="1"/>
          <p:nvPr/>
        </p:nvSpPr>
        <p:spPr>
          <a:xfrm>
            <a:off x="10213571" y="2731832"/>
            <a:ext cx="1978429" cy="30008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zh-TW" altLang="en-US" sz="1300" b="1">
                <a:solidFill>
                  <a:srgbClr val="FFFFFF"/>
                </a:solidFill>
                <a:latin typeface="微軟正黑體"/>
              </a:rPr>
              <a:t>低預算旅人</a:t>
            </a:r>
          </a:p>
          <a:p>
            <a:r>
              <a:rPr lang="zh-TW" altLang="en-US" sz="1300">
                <a:solidFill>
                  <a:srgbClr val="FFFFFF"/>
                </a:solidFill>
                <a:latin typeface="微軟正黑體"/>
              </a:rPr>
              <a:t>平價清單橫跨四群</a:t>
            </a:r>
          </a:p>
          <a:p>
            <a:r>
              <a:rPr lang="zh-TW" altLang="en-US" sz="1300">
                <a:solidFill>
                  <a:srgbClr val="FFFFFF"/>
                </a:solidFill>
                <a:latin typeface="微軟正黑體"/>
              </a:rPr>
              <a:t>任何風格都能成行</a:t>
            </a:r>
            <a:endParaRPr lang="en-US" altLang="zh-TW" sz="1300">
              <a:solidFill>
                <a:srgbClr val="FFFFFF"/>
              </a:solidFill>
              <a:latin typeface="微軟正黑體"/>
            </a:endParaRPr>
          </a:p>
          <a:p>
            <a:r>
              <a:rPr lang="zh-TW" altLang="en-US" sz="1300">
                <a:solidFill>
                  <a:srgbClr val="FFFFFF"/>
                </a:solidFill>
                <a:latin typeface="微軟正黑體"/>
              </a:rPr>
              <a:t>高性價比慢遊</a:t>
            </a:r>
            <a:endParaRPr lang="en-US" altLang="zh-TW" sz="1300">
              <a:solidFill>
                <a:srgbClr val="FFFFFF"/>
              </a:solidFill>
              <a:latin typeface="微軟正黑體"/>
            </a:endParaRPr>
          </a:p>
          <a:p>
            <a:endParaRPr lang="zh-TW" altLang="en-US" sz="1300" b="1">
              <a:solidFill>
                <a:srgbClr val="FFFFFF"/>
              </a:solidFill>
              <a:latin typeface="微軟正黑體"/>
            </a:endParaRPr>
          </a:p>
          <a:p>
            <a:endParaRPr lang="zh-TW" altLang="en-US" sz="1300" b="1">
              <a:solidFill>
                <a:srgbClr val="FFFFFF"/>
              </a:solidFill>
              <a:latin typeface="微軟正黑體"/>
            </a:endParaRPr>
          </a:p>
          <a:p>
            <a:r>
              <a:rPr lang="zh-TW" altLang="en-US" sz="1300" b="1">
                <a:solidFill>
                  <a:srgbClr val="FFFFFF"/>
                </a:solidFill>
                <a:latin typeface="微軟正黑體"/>
              </a:rPr>
              <a:t>中階旅人</a:t>
            </a:r>
          </a:p>
          <a:p>
            <a:r>
              <a:rPr lang="zh-TW" altLang="en-US" sz="1300">
                <a:solidFill>
                  <a:srgbClr val="FFFFFF"/>
                </a:solidFill>
                <a:latin typeface="微軟正黑體"/>
              </a:rPr>
              <a:t>都會型 </a:t>
            </a:r>
            <a:r>
              <a:rPr lang="en-US" altLang="zh-TW" sz="1300">
                <a:solidFill>
                  <a:srgbClr val="FFFFFF"/>
                </a:solidFill>
                <a:latin typeface="微軟正黑體"/>
              </a:rPr>
              <a:t>× </a:t>
            </a:r>
            <a:r>
              <a:rPr lang="zh-TW" altLang="en-US" sz="1300">
                <a:solidFill>
                  <a:srgbClr val="FFFFFF"/>
                </a:solidFill>
                <a:latin typeface="微軟正黑體"/>
              </a:rPr>
              <a:t>海濱型</a:t>
            </a:r>
          </a:p>
          <a:p>
            <a:r>
              <a:rPr lang="zh-TW" altLang="en-US" sz="1300">
                <a:solidFill>
                  <a:srgbClr val="FFFFFF"/>
                </a:solidFill>
                <a:latin typeface="微軟正黑體"/>
              </a:rPr>
              <a:t>為主要平衡選項</a:t>
            </a:r>
            <a:endParaRPr lang="en-US" altLang="zh-TW" sz="1300">
              <a:solidFill>
                <a:srgbClr val="FFFFFF"/>
              </a:solidFill>
              <a:latin typeface="微軟正黑體"/>
            </a:endParaRPr>
          </a:p>
          <a:p>
            <a:r>
              <a:rPr lang="zh-TW" altLang="en-US" sz="1300">
                <a:solidFill>
                  <a:srgbClr val="FFFFFF"/>
                </a:solidFill>
                <a:latin typeface="微軟正黑體"/>
              </a:rPr>
              <a:t>兼具便利與體驗</a:t>
            </a:r>
            <a:endParaRPr lang="en-US" altLang="zh-TW" sz="1300">
              <a:solidFill>
                <a:srgbClr val="FFFFFF"/>
              </a:solidFill>
              <a:latin typeface="微軟正黑體"/>
            </a:endParaRPr>
          </a:p>
          <a:p>
            <a:endParaRPr lang="zh-TW" altLang="en-US" sz="1300" b="1">
              <a:solidFill>
                <a:srgbClr val="FFFFFF"/>
              </a:solidFill>
              <a:latin typeface="微軟正黑體"/>
            </a:endParaRPr>
          </a:p>
          <a:p>
            <a:endParaRPr lang="zh-TW" altLang="en-US" sz="1300" b="1">
              <a:solidFill>
                <a:srgbClr val="FFFFFF"/>
              </a:solidFill>
              <a:latin typeface="微軟正黑體"/>
            </a:endParaRPr>
          </a:p>
          <a:p>
            <a:r>
              <a:rPr lang="zh-TW" altLang="en-US" sz="1300" b="1">
                <a:solidFill>
                  <a:srgbClr val="FFFFFF"/>
                </a:solidFill>
                <a:latin typeface="微軟正黑體"/>
              </a:rPr>
              <a:t>高預算旅人</a:t>
            </a:r>
          </a:p>
          <a:p>
            <a:r>
              <a:rPr lang="zh-TW" altLang="en-US" sz="1300">
                <a:solidFill>
                  <a:srgbClr val="FFFFFF"/>
                </a:solidFill>
                <a:latin typeface="微軟正黑體"/>
              </a:rPr>
              <a:t>可選 都會 </a:t>
            </a:r>
            <a:r>
              <a:rPr lang="en-US" altLang="zh-TW" sz="1300">
                <a:solidFill>
                  <a:srgbClr val="FFFFFF"/>
                </a:solidFill>
                <a:latin typeface="微軟正黑體"/>
              </a:rPr>
              <a:t>· </a:t>
            </a:r>
            <a:r>
              <a:rPr lang="zh-TW" altLang="en-US" sz="1300">
                <a:solidFill>
                  <a:srgbClr val="FFFFFF"/>
                </a:solidFill>
                <a:latin typeface="微軟正黑體"/>
              </a:rPr>
              <a:t>自然 </a:t>
            </a:r>
            <a:r>
              <a:rPr lang="en-US" altLang="zh-TW" sz="1300">
                <a:solidFill>
                  <a:srgbClr val="FFFFFF"/>
                </a:solidFill>
                <a:latin typeface="微軟正黑體"/>
              </a:rPr>
              <a:t>· </a:t>
            </a:r>
            <a:r>
              <a:rPr lang="zh-TW" altLang="en-US" sz="1300">
                <a:solidFill>
                  <a:srgbClr val="FFFFFF"/>
                </a:solidFill>
                <a:latin typeface="微軟正黑體"/>
              </a:rPr>
              <a:t>海濱</a:t>
            </a:r>
          </a:p>
          <a:p>
            <a:r>
              <a:rPr lang="zh-TW" altLang="en-US" sz="1300">
                <a:solidFill>
                  <a:srgbClr val="FFFFFF"/>
                </a:solidFill>
                <a:latin typeface="微軟正黑體"/>
              </a:rPr>
              <a:t>追求差異化體驗</a:t>
            </a:r>
            <a:endParaRPr sz="1300">
              <a:solidFill>
                <a:srgbClr val="FFFFFF"/>
              </a:solidFill>
              <a:latin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3739545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7C9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972800" cy="9143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600" b="0">
                <a:solidFill>
                  <a:srgbClr val="FFFFFF"/>
                </a:solidFill>
                <a:latin typeface="標楷體"/>
              </a:rPr>
              <a:t>都會文化美食型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19"/>
            <a:ext cx="5486400" cy="2468880"/>
          </a:xfrm>
          <a:prstGeom prst="rect">
            <a:avLst/>
          </a:prstGeom>
          <a:solidFill>
            <a:srgbClr val="7C9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5F2E8"/>
                </a:solidFill>
                <a:latin typeface="Georgia"/>
              </a:rPr>
              <a:t>Signature Traits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標楷體"/>
              </a:rPr>
              <a:t>文化 ｜ 美食 ｜ 夜生活 ｜ 都會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14400" y="2834639"/>
            <a:ext cx="914400" cy="0"/>
          </a:xfrm>
          <a:prstGeom prst="line">
            <a:avLst/>
          </a:prstGeom>
          <a:ln w="12700">
            <a:solidFill>
              <a:srgbClr val="F5F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2971800"/>
            <a:ext cx="50292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F5F2E8"/>
                </a:solidFill>
                <a:latin typeface="微軟正黑體"/>
              </a:rPr>
              <a:t>國際都會的代表：高度都市化、文化底蘊深厚、美食與夜生活蓬勃。適合喜歡逛博物館、嘗精緻料理、體驗都會節奏的旅人。中階預算城市占多數，是中產旅遊的主戰場。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645919"/>
            <a:ext cx="5212080" cy="246888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0" y="182880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3F5D3D"/>
                </a:solidFill>
                <a:latin typeface="Georgia"/>
              </a:rPr>
              <a:t>Distribution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194560"/>
            <a:ext cx="13716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200" b="1">
                <a:solidFill>
                  <a:srgbClr val="3F5D3D"/>
                </a:solidFill>
                <a:latin typeface="Georgia"/>
              </a:rPr>
              <a:t>195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24612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微軟正黑體"/>
              </a:rPr>
              <a:t>個城市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2194560"/>
            <a:ext cx="100584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321040" y="2194560"/>
            <a:ext cx="1005840" cy="73152"/>
          </a:xfrm>
          <a:prstGeom prst="rect">
            <a:avLst/>
          </a:prstGeom>
          <a:solidFill>
            <a:srgbClr val="C89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2286000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3F5D3D"/>
                </a:solidFill>
                <a:latin typeface="Georgia"/>
              </a:rPr>
              <a:t>28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788920"/>
            <a:ext cx="10058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微軟正黑體"/>
              </a:rPr>
              <a:t>奢華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154679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C8964F"/>
                </a:solidFill>
                <a:latin typeface="Georgia"/>
              </a:rPr>
              <a:t>14%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18319" y="2194560"/>
            <a:ext cx="100584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418319" y="2194560"/>
            <a:ext cx="1005840" cy="73152"/>
          </a:xfrm>
          <a:prstGeom prst="rect">
            <a:avLst/>
          </a:prstGeom>
          <a:solidFill>
            <a:srgbClr val="7C9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18319" y="2286000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3F5D3D"/>
                </a:solidFill>
                <a:latin typeface="Georgia"/>
              </a:rPr>
              <a:t>137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19" y="2788920"/>
            <a:ext cx="10058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微軟正黑體"/>
              </a:rPr>
              <a:t>中階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19" y="3154679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7C987C"/>
                </a:solidFill>
                <a:latin typeface="Georgia"/>
              </a:rPr>
              <a:t>70%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515600" y="2194560"/>
            <a:ext cx="100584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0515600" y="2194560"/>
            <a:ext cx="1005840" cy="73152"/>
          </a:xfrm>
          <a:prstGeom prst="rect">
            <a:avLst/>
          </a:prstGeom>
          <a:solidFill>
            <a:srgbClr val="3F5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515600" y="2286000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3F5D3D"/>
                </a:solidFill>
                <a:latin typeface="Georgia"/>
              </a:rPr>
              <a:t>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2788920"/>
            <a:ext cx="10058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微軟正黑體"/>
              </a:rPr>
              <a:t>平價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3154679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3F5D3D"/>
                </a:solidFill>
                <a:latin typeface="Georgia"/>
              </a:rPr>
              <a:t>15%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389120"/>
            <a:ext cx="35661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7C9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0080" y="4389120"/>
            <a:ext cx="3566160" cy="73152"/>
          </a:xfrm>
          <a:prstGeom prst="rect">
            <a:avLst/>
          </a:prstGeom>
          <a:solidFill>
            <a:srgbClr val="C89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8680" y="457200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C8964F"/>
                </a:solidFill>
                <a:latin typeface="標楷體"/>
              </a:rPr>
              <a:t>奢華代表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502920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微軟正黑體"/>
              </a:rPr>
              <a:t>・　米蘭 Milan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5321808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微軟正黑體"/>
              </a:rPr>
              <a:t>・　紐約 New York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5614416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微軟正黑體"/>
              </a:rPr>
              <a:t>・　新加坡 Singapore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5907024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微軟正黑體"/>
              </a:rPr>
              <a:t>・　芝加哥 Chicago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619963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微軟正黑體"/>
              </a:rPr>
              <a:t>・　東京 Tokyo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16552" y="4389120"/>
            <a:ext cx="35661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7C9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416552" y="4389120"/>
            <a:ext cx="3566160" cy="73152"/>
          </a:xfrm>
          <a:prstGeom prst="rect">
            <a:avLst/>
          </a:prstGeom>
          <a:solidFill>
            <a:srgbClr val="7C9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645152" y="457200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7C987C"/>
                </a:solidFill>
                <a:latin typeface="標楷體"/>
              </a:rPr>
              <a:t>中階代表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45152" y="502920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微軟正黑體"/>
              </a:rPr>
              <a:t>・　阿姆斯特丹 Amsterdam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45152" y="5321808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微軟正黑體"/>
              </a:rPr>
              <a:t>・　首爾 Seoul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45152" y="5614416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微軟正黑體"/>
              </a:rPr>
              <a:t>・　雅典 Athens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45152" y="5907024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微軟正黑體"/>
              </a:rPr>
              <a:t>・　墨爾本 Melbourne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45152" y="619963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微軟正黑體"/>
              </a:rPr>
              <a:t>・　巴塞隆納 Barcelona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93023" y="4389120"/>
            <a:ext cx="35661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7C9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8193023" y="4389120"/>
            <a:ext cx="3566160" cy="73152"/>
          </a:xfrm>
          <a:prstGeom prst="rect">
            <a:avLst/>
          </a:prstGeom>
          <a:solidFill>
            <a:srgbClr val="3F5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421624" y="457200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3F5D3D"/>
                </a:solidFill>
                <a:latin typeface="標楷體"/>
              </a:rPr>
              <a:t>平價代表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21624" y="502920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微軟正黑體"/>
              </a:rPr>
              <a:t>・　開羅 Cairo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21624" y="5321808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微軟正黑體"/>
              </a:rPr>
              <a:t>・　曼谷 Bangkok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21624" y="5614416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微軟正黑體"/>
              </a:rPr>
              <a:t>・　馬尼拉 Manila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21624" y="5907024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微軟正黑體"/>
              </a:rPr>
              <a:t>・　孟買 Mumbai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21624" y="619963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微軟正黑體"/>
              </a:rPr>
              <a:t>・　蘇拉巴亞 Surabaya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7C9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972800" cy="9143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600" b="0">
                <a:solidFill>
                  <a:srgbClr val="FFFFFF"/>
                </a:solidFill>
                <a:latin typeface="標楷體"/>
              </a:rPr>
              <a:t>平穩慢遊型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19"/>
            <a:ext cx="5486400" cy="2468880"/>
          </a:xfrm>
          <a:prstGeom prst="rect">
            <a:avLst/>
          </a:prstGeom>
          <a:solidFill>
            <a:srgbClr val="7C9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5F2E8"/>
                </a:solidFill>
                <a:latin typeface="Georgia"/>
              </a:rPr>
              <a:t>Signature Traits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標楷體"/>
              </a:rPr>
              <a:t>無極端特徵 ｜ 全面均衡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14400" y="2834639"/>
            <a:ext cx="914400" cy="0"/>
          </a:xfrm>
          <a:prstGeom prst="line">
            <a:avLst/>
          </a:prstGeom>
          <a:ln w="12700">
            <a:solidFill>
              <a:srgbClr val="F5F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2971800"/>
            <a:ext cx="50292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F5F2E8"/>
                </a:solidFill>
                <a:latin typeface="微軟正黑體"/>
              </a:rPr>
              <a:t>這群城市沒有特別強烈的單一特色，整體節奏平穩、適合慢遊。預算分布以平價與中階為主，奢華僅 6 個——這是「平庸陷阱」最強的證據：缺乏特化定位的城市，極難升上奢華等級。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645919"/>
            <a:ext cx="5212080" cy="246888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0" y="182880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3F5D3D"/>
                </a:solidFill>
                <a:latin typeface="Georgia"/>
              </a:rPr>
              <a:t>Distribution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194560"/>
            <a:ext cx="13716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200" b="1">
                <a:solidFill>
                  <a:srgbClr val="3F5D3D"/>
                </a:solidFill>
                <a:latin typeface="Georgia"/>
              </a:rPr>
              <a:t>161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24612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微軟正黑體"/>
              </a:rPr>
              <a:t>個城市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2194560"/>
            <a:ext cx="100584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321040" y="2194560"/>
            <a:ext cx="1005840" cy="73152"/>
          </a:xfrm>
          <a:prstGeom prst="rect">
            <a:avLst/>
          </a:prstGeom>
          <a:solidFill>
            <a:srgbClr val="C89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2286000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3F5D3D"/>
                </a:solidFill>
                <a:latin typeface="Georgia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788920"/>
            <a:ext cx="10058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微軟正黑體"/>
              </a:rPr>
              <a:t>奢華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154679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C8964F"/>
                </a:solidFill>
                <a:latin typeface="Georgia"/>
              </a:rPr>
              <a:t>4%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18319" y="2194560"/>
            <a:ext cx="100584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418319" y="2194560"/>
            <a:ext cx="1005840" cy="73152"/>
          </a:xfrm>
          <a:prstGeom prst="rect">
            <a:avLst/>
          </a:prstGeom>
          <a:solidFill>
            <a:srgbClr val="7C9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18319" y="2286000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3F5D3D"/>
                </a:solidFill>
                <a:latin typeface="Georgia"/>
              </a:rPr>
              <a:t>76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19" y="2788920"/>
            <a:ext cx="10058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微軟正黑體"/>
              </a:rPr>
              <a:t>中階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19" y="3154679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7C987C"/>
                </a:solidFill>
                <a:latin typeface="Georgia"/>
              </a:rPr>
              <a:t>47%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515600" y="2194560"/>
            <a:ext cx="100584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0515600" y="2194560"/>
            <a:ext cx="1005840" cy="73152"/>
          </a:xfrm>
          <a:prstGeom prst="rect">
            <a:avLst/>
          </a:prstGeom>
          <a:solidFill>
            <a:srgbClr val="3F5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515600" y="2286000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3F5D3D"/>
                </a:solidFill>
                <a:latin typeface="Georgia"/>
              </a:rPr>
              <a:t>79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2788920"/>
            <a:ext cx="10058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微軟正黑體"/>
              </a:rPr>
              <a:t>平價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3154679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3F5D3D"/>
                </a:solidFill>
                <a:latin typeface="Georgia"/>
              </a:rPr>
              <a:t>49%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389120"/>
            <a:ext cx="35661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7C9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0080" y="4389120"/>
            <a:ext cx="3566160" cy="73152"/>
          </a:xfrm>
          <a:prstGeom prst="rect">
            <a:avLst/>
          </a:prstGeom>
          <a:solidFill>
            <a:srgbClr val="C89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8680" y="457200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C8964F"/>
                </a:solidFill>
                <a:latin typeface="標楷體"/>
              </a:rPr>
              <a:t>奢華代表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502920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微軟正黑體"/>
              </a:rPr>
              <a:t>・　京都 Kyoto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5321808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微軟正黑體"/>
              </a:rPr>
              <a:t>・　廷布 Thimphu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5614416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微軟正黑體"/>
              </a:rPr>
              <a:t>・　復活節島 Easter Is.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5907024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微軟正黑體"/>
              </a:rPr>
              <a:t>・　阿什哈巴德 Ashgabat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619963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微軟正黑體"/>
              </a:rPr>
              <a:t>・　特隆赫姆 Trondheim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16552" y="4389120"/>
            <a:ext cx="35661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7C9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416552" y="4389120"/>
            <a:ext cx="3566160" cy="73152"/>
          </a:xfrm>
          <a:prstGeom prst="rect">
            <a:avLst/>
          </a:prstGeom>
          <a:solidFill>
            <a:srgbClr val="7C9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645152" y="457200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7C987C"/>
                </a:solidFill>
                <a:latin typeface="標楷體"/>
              </a:rPr>
              <a:t>中階代表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45152" y="502920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微軟正黑體"/>
              </a:rPr>
              <a:t>・　海德堡 Heidelberg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45152" y="5321808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微軟正黑體"/>
              </a:rPr>
              <a:t>・　長崎 Nagasaki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45152" y="5614416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微軟正黑體"/>
              </a:rPr>
              <a:t>・　布魯日 Bruges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45152" y="5907024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微軟正黑體"/>
              </a:rPr>
              <a:t>・　霍巴特 Hobart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45152" y="619963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微軟正黑體"/>
              </a:rPr>
              <a:t>・　納夫普利翁 Nafplio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93023" y="4389120"/>
            <a:ext cx="35661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7C9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8193023" y="4389120"/>
            <a:ext cx="3566160" cy="73152"/>
          </a:xfrm>
          <a:prstGeom prst="rect">
            <a:avLst/>
          </a:prstGeom>
          <a:solidFill>
            <a:srgbClr val="3F5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421624" y="457200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3F5D3D"/>
                </a:solidFill>
                <a:latin typeface="標楷體"/>
              </a:rPr>
              <a:t>平價代表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21624" y="502920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微軟正黑體"/>
              </a:rPr>
              <a:t>・　蒲甘 Bagan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21624" y="5321808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微軟正黑體"/>
              </a:rPr>
              <a:t>・　金邊 Phnom Penh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21624" y="5614416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微軟正黑體"/>
              </a:rPr>
              <a:t>・　加德滿都 Kathmandu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21624" y="5907024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微軟正黑體"/>
              </a:rPr>
              <a:t>・　塞拉耶佛 Sarajevo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21624" y="619963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微軟正黑體"/>
              </a:rPr>
              <a:t>・　提比里西 Tbilisi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7C9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972800" cy="9143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600" b="0">
                <a:solidFill>
                  <a:srgbClr val="FFFFFF"/>
                </a:solidFill>
                <a:latin typeface="標楷體"/>
              </a:rPr>
              <a:t>自然冒險秘境型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19"/>
            <a:ext cx="5486400" cy="2468880"/>
          </a:xfrm>
          <a:prstGeom prst="rect">
            <a:avLst/>
          </a:prstGeom>
          <a:solidFill>
            <a:srgbClr val="7C9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5F2E8"/>
                </a:solidFill>
                <a:latin typeface="Georgia"/>
              </a:rPr>
              <a:t>Signature Traits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標楷體"/>
              </a:rPr>
              <a:t>自然 ｜ 冒險 ｜ 隱密 ｜ 遠離都市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14400" y="2834639"/>
            <a:ext cx="914400" cy="0"/>
          </a:xfrm>
          <a:prstGeom prst="line">
            <a:avLst/>
          </a:prstGeom>
          <a:ln w="12700">
            <a:solidFill>
              <a:srgbClr val="F5F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2971800"/>
            <a:ext cx="50292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F5F2E8"/>
                </a:solidFill>
                <a:latin typeface="微軟正黑體"/>
              </a:rPr>
              <a:t>這群城市以壯闊的自然景觀與戶外冒險為特色，遠離人群、隱密度高。從熱帶雨林、沙漠、高原到極地雪山皆有，是 9 項評分中內部變異最大的群集。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645919"/>
            <a:ext cx="5212080" cy="246888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0" y="182880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3F5D3D"/>
                </a:solidFill>
                <a:latin typeface="Georgia"/>
              </a:rPr>
              <a:t>Distribution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194560"/>
            <a:ext cx="13716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200" b="1">
                <a:solidFill>
                  <a:srgbClr val="3F5D3D"/>
                </a:solidFill>
                <a:latin typeface="Georgia"/>
              </a:rPr>
              <a:t>104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24612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微軟正黑體"/>
              </a:rPr>
              <a:t>個城市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2194560"/>
            <a:ext cx="100584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321040" y="2194560"/>
            <a:ext cx="1005840" cy="73152"/>
          </a:xfrm>
          <a:prstGeom prst="rect">
            <a:avLst/>
          </a:prstGeom>
          <a:solidFill>
            <a:srgbClr val="C89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2286000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3F5D3D"/>
                </a:solidFill>
                <a:latin typeface="Georgia"/>
              </a:rPr>
              <a:t>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788920"/>
            <a:ext cx="10058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微軟正黑體"/>
              </a:rPr>
              <a:t>奢華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154679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C8964F"/>
                </a:solidFill>
                <a:latin typeface="Georgia"/>
              </a:rPr>
              <a:t>23%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18319" y="2194560"/>
            <a:ext cx="100584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418319" y="2194560"/>
            <a:ext cx="1005840" cy="73152"/>
          </a:xfrm>
          <a:prstGeom prst="rect">
            <a:avLst/>
          </a:prstGeom>
          <a:solidFill>
            <a:srgbClr val="7C9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18319" y="2286000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3F5D3D"/>
                </a:solidFill>
                <a:latin typeface="Georgia"/>
              </a:rPr>
              <a:t>55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19" y="2788920"/>
            <a:ext cx="10058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微軟正黑體"/>
              </a:rPr>
              <a:t>中階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19" y="3154679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7C987C"/>
                </a:solidFill>
                <a:latin typeface="Georgia"/>
              </a:rPr>
              <a:t>53%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515600" y="2194560"/>
            <a:ext cx="100584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0515600" y="2194560"/>
            <a:ext cx="1005840" cy="73152"/>
          </a:xfrm>
          <a:prstGeom prst="rect">
            <a:avLst/>
          </a:prstGeom>
          <a:solidFill>
            <a:srgbClr val="3F5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515600" y="2286000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3F5D3D"/>
                </a:solidFill>
                <a:latin typeface="Georgia"/>
              </a:rPr>
              <a:t>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2788920"/>
            <a:ext cx="10058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微軟正黑體"/>
              </a:rPr>
              <a:t>平價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3154679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3F5D3D"/>
                </a:solidFill>
                <a:latin typeface="Georgia"/>
              </a:rPr>
              <a:t>24%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389120"/>
            <a:ext cx="35661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7C9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0080" y="4389120"/>
            <a:ext cx="3566160" cy="73152"/>
          </a:xfrm>
          <a:prstGeom prst="rect">
            <a:avLst/>
          </a:prstGeom>
          <a:solidFill>
            <a:srgbClr val="C89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8680" y="457200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C8964F"/>
                </a:solidFill>
                <a:latin typeface="標楷體"/>
              </a:rPr>
              <a:t>奢華代表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502920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微軟正黑體"/>
              </a:rPr>
              <a:t>・　惠斯勒 Whistler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5321808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微軟正黑體"/>
              </a:rPr>
              <a:t>・　雷克雅維克 Reykjavik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5614416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微軟正黑體"/>
              </a:rPr>
              <a:t>・　班夫 Banff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5907024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微軟正黑體"/>
              </a:rPr>
              <a:t>・　亞薩瓦群島 Yasawa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619963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微軟正黑體"/>
              </a:rPr>
              <a:t>・　努克 Nuuk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16552" y="4389120"/>
            <a:ext cx="35661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7C9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416552" y="4389120"/>
            <a:ext cx="3566160" cy="73152"/>
          </a:xfrm>
          <a:prstGeom prst="rect">
            <a:avLst/>
          </a:prstGeom>
          <a:solidFill>
            <a:srgbClr val="7C9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645152" y="457200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7C987C"/>
                </a:solidFill>
                <a:latin typeface="標楷體"/>
              </a:rPr>
              <a:t>中階代表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45152" y="502920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微軟正黑體"/>
              </a:rPr>
              <a:t>・　塞多納 Sedona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45152" y="5321808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微軟正黑體"/>
              </a:rPr>
              <a:t>・　瓦迪拉姆 Wadi Rum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45152" y="5614416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微軟正黑體"/>
              </a:rPr>
              <a:t>・　亞速群島 Azores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45152" y="5951851"/>
            <a:ext cx="320040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00" b="0">
                <a:solidFill>
                  <a:srgbClr val="1A1A1A"/>
                </a:solidFill>
                <a:latin typeface="微軟正黑體"/>
              </a:rPr>
              <a:t>・　</a:t>
            </a:r>
            <a:r>
              <a:rPr lang="zh-TW" altLang="en-US" sz="1200" b="0">
                <a:solidFill>
                  <a:srgbClr val="1A1A1A"/>
                </a:solidFill>
                <a:latin typeface="微軟正黑體"/>
              </a:rPr>
              <a:t>鳳凰城 </a:t>
            </a:r>
            <a:r>
              <a:rPr lang="en" sz="1200" b="0">
                <a:solidFill>
                  <a:srgbClr val="1A1A1A"/>
                </a:solidFill>
                <a:latin typeface="微軟正黑體"/>
              </a:rPr>
              <a:t>Phoenix</a:t>
            </a:r>
            <a:endParaRPr sz="1200" b="0">
              <a:solidFill>
                <a:srgbClr val="1A1A1A"/>
              </a:solidFill>
              <a:latin typeface="微軟正黑體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645152" y="6244459"/>
            <a:ext cx="320040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00" b="0">
                <a:solidFill>
                  <a:srgbClr val="1A1A1A"/>
                </a:solidFill>
                <a:latin typeface="微軟正黑體"/>
              </a:rPr>
              <a:t>・　</a:t>
            </a:r>
            <a:r>
              <a:rPr lang="zh-TW" altLang="en-US" sz="1200" b="0">
                <a:solidFill>
                  <a:srgbClr val="1A1A1A"/>
                </a:solidFill>
                <a:latin typeface="微軟正黑體"/>
              </a:rPr>
              <a:t>帕果帕果 </a:t>
            </a:r>
            <a:r>
              <a:rPr lang="en" sz="1200" b="0">
                <a:solidFill>
                  <a:srgbClr val="1A1A1A"/>
                </a:solidFill>
                <a:latin typeface="微軟正黑體"/>
              </a:rPr>
              <a:t>Pago Pago</a:t>
            </a:r>
            <a:endParaRPr sz="1200" b="0">
              <a:solidFill>
                <a:srgbClr val="1A1A1A"/>
              </a:solidFill>
              <a:latin typeface="微軟正黑體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8193023" y="4389120"/>
            <a:ext cx="35661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7C9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8193023" y="4389120"/>
            <a:ext cx="3566160" cy="73152"/>
          </a:xfrm>
          <a:prstGeom prst="rect">
            <a:avLst/>
          </a:prstGeom>
          <a:solidFill>
            <a:srgbClr val="3F5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421624" y="457200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3F5D3D"/>
                </a:solidFill>
                <a:latin typeface="標楷體"/>
              </a:rPr>
              <a:t>平價代表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21624" y="502920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微軟正黑體"/>
              </a:rPr>
              <a:t>・　伊基托斯 Iquitos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21624" y="5321808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微軟正黑體"/>
              </a:rPr>
              <a:t>・　大叻 Da Lat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21624" y="5614416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微軟正黑體"/>
              </a:rPr>
              <a:t>・　巴尼奧斯 Baños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21624" y="5951851"/>
            <a:ext cx="320040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00" b="0">
                <a:solidFill>
                  <a:srgbClr val="1A1A1A"/>
                </a:solidFill>
                <a:latin typeface="微軟正黑體"/>
              </a:rPr>
              <a:t>・　</a:t>
            </a:r>
            <a:r>
              <a:rPr lang="zh-TW" altLang="en-US" sz="1200" b="0">
                <a:solidFill>
                  <a:srgbClr val="1A1A1A"/>
                </a:solidFill>
                <a:latin typeface="微軟正黑體"/>
              </a:rPr>
              <a:t>桂林 </a:t>
            </a:r>
            <a:r>
              <a:rPr lang="en" sz="1200" b="0">
                <a:solidFill>
                  <a:srgbClr val="1A1A1A"/>
                </a:solidFill>
                <a:latin typeface="微軟正黑體"/>
              </a:rPr>
              <a:t>Guilin</a:t>
            </a:r>
            <a:endParaRPr sz="1200" b="0">
              <a:solidFill>
                <a:srgbClr val="1A1A1A"/>
              </a:solidFill>
              <a:latin typeface="微軟正黑體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8421624" y="619963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微軟正黑體"/>
              </a:rPr>
              <a:t>・　姆巴巴內 Mbabane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7C9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972800" cy="9143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600" b="0">
                <a:solidFill>
                  <a:srgbClr val="FFFFFF"/>
                </a:solidFill>
                <a:latin typeface="標楷體"/>
              </a:rPr>
              <a:t>海濱療癒度假型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19"/>
            <a:ext cx="5486400" cy="2468880"/>
          </a:xfrm>
          <a:prstGeom prst="rect">
            <a:avLst/>
          </a:prstGeom>
          <a:solidFill>
            <a:srgbClr val="7C9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5F2E8"/>
                </a:solidFill>
                <a:latin typeface="Georgia"/>
              </a:rPr>
              <a:t>Signature Traits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標楷體"/>
              </a:rPr>
              <a:t>海灘 ｜ 療癒 ｜ 自然 ｜ 度假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14400" y="2834639"/>
            <a:ext cx="914400" cy="0"/>
          </a:xfrm>
          <a:prstGeom prst="line">
            <a:avLst/>
          </a:prstGeom>
          <a:ln w="12700">
            <a:solidFill>
              <a:srgbClr val="F5F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2971800"/>
            <a:ext cx="50292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F5F2E8"/>
                </a:solidFill>
                <a:latin typeface="微軟正黑體"/>
              </a:rPr>
              <a:t>這群城市以海灘資源與療癒放鬆為主要特色，是典型的度假目的地。海濱型城市平價選項僅 11 個，因海島度假天然需要較高的交通與住宿成本，中階與奢華預算佔比最高。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645919"/>
            <a:ext cx="5212080" cy="246888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0" y="182880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3F5D3D"/>
                </a:solidFill>
                <a:latin typeface="Georgia"/>
              </a:rPr>
              <a:t>Distribution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194560"/>
            <a:ext cx="13716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200" b="1">
                <a:solidFill>
                  <a:srgbClr val="3F5D3D"/>
                </a:solidFill>
                <a:latin typeface="Georgia"/>
              </a:rPr>
              <a:t>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24612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微軟正黑體"/>
              </a:rPr>
              <a:t>個城市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2194560"/>
            <a:ext cx="100584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321040" y="2194560"/>
            <a:ext cx="1005840" cy="73152"/>
          </a:xfrm>
          <a:prstGeom prst="rect">
            <a:avLst/>
          </a:prstGeom>
          <a:solidFill>
            <a:srgbClr val="C89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2286000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3F5D3D"/>
                </a:solidFill>
                <a:latin typeface="Georgia"/>
              </a:rPr>
              <a:t>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788920"/>
            <a:ext cx="10058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微軟正黑體"/>
              </a:rPr>
              <a:t>奢華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154679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C8964F"/>
                </a:solidFill>
                <a:latin typeface="Georgia"/>
              </a:rPr>
              <a:t>18%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18319" y="2194560"/>
            <a:ext cx="100584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418319" y="2194560"/>
            <a:ext cx="1005840" cy="73152"/>
          </a:xfrm>
          <a:prstGeom prst="rect">
            <a:avLst/>
          </a:prstGeom>
          <a:solidFill>
            <a:srgbClr val="7C9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18319" y="2286000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3F5D3D"/>
                </a:solidFill>
                <a:latin typeface="Georgia"/>
              </a:rPr>
              <a:t>71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19" y="2788920"/>
            <a:ext cx="10058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微軟正黑體"/>
              </a:rPr>
              <a:t>中階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19" y="3154679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7C987C"/>
                </a:solidFill>
                <a:latin typeface="Georgia"/>
              </a:rPr>
              <a:t>71%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515600" y="2194560"/>
            <a:ext cx="100584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0515600" y="2194560"/>
            <a:ext cx="1005840" cy="73152"/>
          </a:xfrm>
          <a:prstGeom prst="rect">
            <a:avLst/>
          </a:prstGeom>
          <a:solidFill>
            <a:srgbClr val="3F5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515600" y="2286000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3F5D3D"/>
                </a:solidFill>
                <a:latin typeface="Georgia"/>
              </a:rPr>
              <a:t>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2788920"/>
            <a:ext cx="10058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微軟正黑體"/>
              </a:rPr>
              <a:t>平價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3154679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3F5D3D"/>
                </a:solidFill>
                <a:latin typeface="Georgia"/>
              </a:rPr>
              <a:t>11%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389120"/>
            <a:ext cx="35661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7C9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0080" y="4389120"/>
            <a:ext cx="3566160" cy="73152"/>
          </a:xfrm>
          <a:prstGeom prst="rect">
            <a:avLst/>
          </a:prstGeom>
          <a:solidFill>
            <a:srgbClr val="C89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8680" y="457200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C8964F"/>
                </a:solidFill>
                <a:latin typeface="標楷體"/>
              </a:rPr>
              <a:t>奢華代表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502920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微軟正黑體"/>
              </a:rPr>
              <a:t>・　邁阿密 Miami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5321808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微軟正黑體"/>
              </a:rPr>
              <a:t>・　檀香山 Honolulu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5614416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微軟正黑體"/>
              </a:rPr>
              <a:t>・　雪梨 Sydney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5907024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微軟正黑體"/>
              </a:rPr>
              <a:t>・　漢密爾頓島 Hamilton Is.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619963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微軟正黑體"/>
              </a:rPr>
              <a:t>・　諾美阿 Noumea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16552" y="4389120"/>
            <a:ext cx="35661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7C9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416552" y="4389120"/>
            <a:ext cx="3566160" cy="73152"/>
          </a:xfrm>
          <a:prstGeom prst="rect">
            <a:avLst/>
          </a:prstGeom>
          <a:solidFill>
            <a:srgbClr val="7C9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645152" y="457200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7C987C"/>
                </a:solidFill>
                <a:latin typeface="標楷體"/>
              </a:rPr>
              <a:t>中階代表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45152" y="502920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微軟正黑體"/>
              </a:rPr>
              <a:t>・　馬累 Malé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45152" y="5321808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微軟正黑體"/>
              </a:rPr>
              <a:t>・　里約熱內盧 Rio de Janeiro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45152" y="5614416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微軟正黑體"/>
              </a:rPr>
              <a:t>・　濟州島 Jeju Island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45152" y="5907024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微軟正黑體"/>
              </a:rPr>
              <a:t>・　坦帕 Tampa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45152" y="619963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微軟正黑體"/>
              </a:rPr>
              <a:t>・　橋鎮 Bridgetown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93023" y="4389120"/>
            <a:ext cx="35661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7C9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8193023" y="4389120"/>
            <a:ext cx="3566160" cy="73152"/>
          </a:xfrm>
          <a:prstGeom prst="rect">
            <a:avLst/>
          </a:prstGeom>
          <a:solidFill>
            <a:srgbClr val="3F5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421624" y="457200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3F5D3D"/>
                </a:solidFill>
                <a:latin typeface="標楷體"/>
              </a:rPr>
              <a:t>平價代表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21624" y="502920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微軟正黑體"/>
              </a:rPr>
              <a:t>・　喀比 Krabi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21624" y="5321808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微軟正黑體"/>
              </a:rPr>
              <a:t>・　宿霧 Cebu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21624" y="5614416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微軟正黑體"/>
              </a:rPr>
              <a:t>・　烏布 Ubud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21624" y="5907024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微軟正黑體"/>
              </a:rPr>
              <a:t>・　蘭達島 Koh Lanta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21624" y="6244459"/>
            <a:ext cx="320040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00" b="0">
                <a:solidFill>
                  <a:srgbClr val="1A1A1A"/>
                </a:solidFill>
                <a:latin typeface="微軟正黑體"/>
              </a:rPr>
              <a:t>・　</a:t>
            </a:r>
            <a:r>
              <a:rPr lang="zh-TW" altLang="en-US" sz="1200" b="0">
                <a:solidFill>
                  <a:srgbClr val="1A1A1A"/>
                </a:solidFill>
                <a:latin typeface="微軟正黑體"/>
              </a:rPr>
              <a:t>聖瑪爾塔 </a:t>
            </a:r>
            <a:r>
              <a:rPr lang="en" sz="1200" b="0">
                <a:solidFill>
                  <a:srgbClr val="1A1A1A"/>
                </a:solidFill>
                <a:latin typeface="微軟正黑體"/>
              </a:rPr>
              <a:t>Santa Marta</a:t>
            </a:r>
            <a:endParaRPr sz="1200" b="0">
              <a:solidFill>
                <a:srgbClr val="1A1A1A"/>
              </a:solidFill>
              <a:latin typeface="微軟正黑體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C98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972800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TW" altLang="en-US" sz="6000" b="0" dirty="0">
                <a:solidFill>
                  <a:srgbClr val="FFFFFF"/>
                </a:solidFill>
                <a:latin typeface="標楷體"/>
              </a:rPr>
              <a:t>資料採礦結果說明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2926080"/>
            <a:ext cx="6400800" cy="36576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r"/>
            <a:r>
              <a:rPr sz="32000" b="0">
                <a:solidFill>
                  <a:srgbClr val="A8C0A3"/>
                </a:solidFill>
                <a:latin typeface="標楷體"/>
              </a:rPr>
              <a:t>伍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0" y="6355080"/>
            <a:ext cx="3840480" cy="0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7C9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972800" cy="9143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600" b="0">
                <a:solidFill>
                  <a:srgbClr val="FFFFFF"/>
                </a:solidFill>
                <a:latin typeface="標楷體"/>
              </a:rPr>
              <a:t>四個值得改進的方向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00" cy="192024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1005840" cy="1920240"/>
          </a:xfrm>
          <a:prstGeom prst="rect">
            <a:avLst/>
          </a:prstGeom>
          <a:solidFill>
            <a:srgbClr val="3F5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05840" cy="1920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標楷體"/>
              </a:rPr>
              <a:t>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92024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標楷體"/>
              </a:rPr>
              <a:t>欄位類型多元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828800" y="2788920"/>
            <a:ext cx="822960" cy="0"/>
          </a:xfrm>
          <a:prstGeom prst="line">
            <a:avLst/>
          </a:prstGeom>
          <a:ln w="12700">
            <a:solidFill>
              <a:srgbClr val="7C98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828800" y="2880360"/>
            <a:ext cx="4114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微軟正黑體"/>
              </a:rPr>
              <a:t>建立更完整的前處理流程，明確區分識別、分類與數值欄位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737360"/>
            <a:ext cx="5486400" cy="192024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60" y="1737360"/>
            <a:ext cx="1005840" cy="1920240"/>
          </a:xfrm>
          <a:prstGeom prst="rect">
            <a:avLst/>
          </a:prstGeom>
          <a:solidFill>
            <a:srgbClr val="3F5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60" y="1737360"/>
            <a:ext cx="1005840" cy="1920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標楷體"/>
              </a:rPr>
              <a:t>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0" y="192024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標楷體"/>
              </a:rPr>
              <a:t>群集數選擇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498080" y="2788920"/>
            <a:ext cx="822960" cy="0"/>
          </a:xfrm>
          <a:prstGeom prst="line">
            <a:avLst/>
          </a:prstGeom>
          <a:ln w="12700">
            <a:solidFill>
              <a:srgbClr val="7C98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498080" y="2880360"/>
            <a:ext cx="4114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微軟正黑體"/>
              </a:rPr>
              <a:t>加入更多客觀評估指標，降低 K 值選擇的主觀性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931920"/>
            <a:ext cx="5486400" cy="192024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" y="3931920"/>
            <a:ext cx="1005840" cy="1920240"/>
          </a:xfrm>
          <a:prstGeom prst="rect">
            <a:avLst/>
          </a:prstGeom>
          <a:solidFill>
            <a:srgbClr val="3F5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3931920"/>
            <a:ext cx="1005840" cy="1920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標楷體"/>
              </a:rPr>
              <a:t>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11480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標楷體"/>
              </a:rPr>
              <a:t>特徵不夠全面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828800" y="4983479"/>
            <a:ext cx="822960" cy="0"/>
          </a:xfrm>
          <a:prstGeom prst="line">
            <a:avLst/>
          </a:prstGeom>
          <a:ln w="12700">
            <a:solidFill>
              <a:srgbClr val="7C98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828800" y="5074920"/>
            <a:ext cx="4114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微軟正黑體"/>
              </a:rPr>
              <a:t>納入機票、住宿、安全、簽證、季節等實際旅遊變數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3931920"/>
            <a:ext cx="5486400" cy="192024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309360" y="3931920"/>
            <a:ext cx="1005840" cy="1920240"/>
          </a:xfrm>
          <a:prstGeom prst="rect">
            <a:avLst/>
          </a:prstGeom>
          <a:solidFill>
            <a:srgbClr val="3F5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09360" y="3931920"/>
            <a:ext cx="1005840" cy="1920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標楷體"/>
              </a:rPr>
              <a:t>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0" y="411480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標楷體"/>
              </a:rPr>
              <a:t>氣候資料未用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498080" y="4983479"/>
            <a:ext cx="822960" cy="0"/>
          </a:xfrm>
          <a:prstGeom prst="line">
            <a:avLst/>
          </a:prstGeom>
          <a:ln w="12700">
            <a:solidFill>
              <a:srgbClr val="7C98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498080" y="5074920"/>
            <a:ext cx="4114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微軟正黑體"/>
              </a:rPr>
              <a:t>解析月均溫 JSON，產生年均溫、舒適月份等指標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C98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9728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0" b="0">
                <a:solidFill>
                  <a:srgbClr val="FFFFFF"/>
                </a:solidFill>
                <a:latin typeface="標楷體"/>
              </a:rPr>
              <a:t>結論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2926080"/>
            <a:ext cx="6400800" cy="36576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r"/>
            <a:r>
              <a:rPr sz="32000" b="0">
                <a:solidFill>
                  <a:srgbClr val="A8C0A3"/>
                </a:solidFill>
                <a:latin typeface="標楷體"/>
              </a:rPr>
              <a:t>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0" y="6355080"/>
            <a:ext cx="3840480" cy="0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7C9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972800" cy="9143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600" b="0">
                <a:solidFill>
                  <a:srgbClr val="FFFFFF"/>
                </a:solidFill>
                <a:latin typeface="標楷體"/>
              </a:rPr>
              <a:t>從 560 個城市，看見世界的形狀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19"/>
            <a:ext cx="5486400" cy="4389120"/>
          </a:xfrm>
          <a:prstGeom prst="rect">
            <a:avLst/>
          </a:prstGeom>
          <a:solidFill>
            <a:srgbClr val="7C9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標楷體"/>
              </a:rPr>
              <a:t>核心收穫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14400" y="2788920"/>
            <a:ext cx="914400" cy="0"/>
          </a:xfrm>
          <a:prstGeom prst="line">
            <a:avLst/>
          </a:prstGeom>
          <a:ln w="12700">
            <a:solidFill>
              <a:srgbClr val="F5F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301752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F5F2E8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154681"/>
            <a:ext cx="4572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dirty="0" err="1">
                <a:solidFill>
                  <a:srgbClr val="FFFFFF"/>
                </a:solidFill>
                <a:latin typeface="微軟正黑體"/>
              </a:rPr>
              <a:t>九項評分能把全球城市劃分為四種具辨識度的旅行風格</a:t>
            </a:r>
            <a:endParaRPr sz="1300" b="0" dirty="0">
              <a:solidFill>
                <a:srgbClr val="FFFFFF"/>
              </a:solidFill>
              <a:latin typeface="微軟正黑體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F5F2E8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069080"/>
            <a:ext cx="4572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軟正黑體"/>
              </a:rPr>
              <a:t>預算等級與旅遊原型之間存在明確的結構性對應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4632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F5F2E8"/>
                </a:solidFill>
                <a:latin typeface="Georg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052059"/>
            <a:ext cx="4572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dirty="0" err="1">
                <a:solidFill>
                  <a:srgbClr val="FFFFFF"/>
                </a:solidFill>
                <a:latin typeface="微軟正黑體"/>
              </a:rPr>
              <a:t>為環遊世界規劃提供從「憑印象選城市」到「依資料挑路線」的轉換</a:t>
            </a:r>
            <a:endParaRPr sz="1300" b="0" dirty="0">
              <a:solidFill>
                <a:srgbClr val="FFFFFF"/>
              </a:solidFill>
              <a:latin typeface="微軟正黑體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400800" y="1645919"/>
            <a:ext cx="5212080" cy="438912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5120" y="2194560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3F5D3D"/>
                </a:solidFill>
                <a:latin typeface="標楷體"/>
              </a:rPr>
              <a:t>誰可以用得到？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675120" y="2788920"/>
            <a:ext cx="914400" cy="0"/>
          </a:xfrm>
          <a:prstGeom prst="line">
            <a:avLst/>
          </a:prstGeom>
          <a:ln w="12700">
            <a:solidFill>
              <a:srgbClr val="7C98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6675120" y="3017520"/>
            <a:ext cx="73152" cy="640080"/>
          </a:xfrm>
          <a:prstGeom prst="rect">
            <a:avLst/>
          </a:prstGeom>
          <a:solidFill>
            <a:srgbClr val="7C9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0" y="29718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3F5D3D"/>
                </a:solidFill>
                <a:latin typeface="標楷體"/>
              </a:rPr>
              <a:t>低預算旅人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33756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微軟正黑體"/>
              </a:rPr>
              <a:t>從平穩慢遊型挑高性價比慢遊路線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75120" y="3931920"/>
            <a:ext cx="73152" cy="640080"/>
          </a:xfrm>
          <a:prstGeom prst="rect">
            <a:avLst/>
          </a:prstGeom>
          <a:solidFill>
            <a:srgbClr val="7C9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0" y="38862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3F5D3D"/>
                </a:solidFill>
                <a:latin typeface="標楷體"/>
              </a:rPr>
              <a:t>中階旅人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4251959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微軟正黑體"/>
              </a:rPr>
              <a:t>在都會文化型與海濱療癒型之間取得平衡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4846320"/>
            <a:ext cx="73152" cy="640080"/>
          </a:xfrm>
          <a:prstGeom prst="rect">
            <a:avLst/>
          </a:prstGeom>
          <a:solidFill>
            <a:srgbClr val="7C9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0" y="48006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3F5D3D"/>
                </a:solidFill>
                <a:latin typeface="標楷體"/>
              </a:rPr>
              <a:t>高預算旅人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5166359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微軟正黑體"/>
              </a:rPr>
              <a:t>在奢華都會、自然秘境與海島度假之間多元組合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C98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8412480" y="548640"/>
            <a:ext cx="0" cy="5760720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2356247"/>
            <a:ext cx="7315200" cy="123110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zh-TW" altLang="en-US" sz="8000" b="1">
                <a:solidFill>
                  <a:srgbClr val="FFFFFF"/>
                </a:solidFill>
                <a:latin typeface="標楷體"/>
              </a:rPr>
              <a:t>謝謝大家</a:t>
            </a:r>
            <a:endParaRPr sz="8000" b="1">
              <a:solidFill>
                <a:srgbClr val="FFFFFF"/>
              </a:solidFill>
              <a:latin typeface="標楷體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869680" y="553212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軟正黑體"/>
              </a:rPr>
              <a:t>江至美　江慶栩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869680" y="6126480"/>
            <a:ext cx="2743200" cy="0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869680" y="621792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F5F2E8"/>
                </a:solidFill>
                <a:latin typeface="Georgia"/>
              </a:rPr>
              <a:t>環遊世界城市地圖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1607</TotalTime>
  <Words>1062</Words>
  <Application>Microsoft Macintosh PowerPoint</Application>
  <PresentationFormat>寬螢幕</PresentationFormat>
  <Paragraphs>381</Paragraphs>
  <Slides>35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35</vt:i4>
      </vt:variant>
    </vt:vector>
  </HeadingPairs>
  <TitlesOfParts>
    <vt:vector size="42" baseType="lpstr">
      <vt:lpstr>微軟正黑體</vt:lpstr>
      <vt:lpstr>標楷體</vt:lpstr>
      <vt:lpstr>Aptos</vt:lpstr>
      <vt:lpstr>Arial</vt:lpstr>
      <vt:lpstr>Calibri</vt:lpstr>
      <vt:lpstr>Georgia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江慶栩</cp:lastModifiedBy>
  <cp:revision>33</cp:revision>
  <dcterms:created xsi:type="dcterms:W3CDTF">2013-01-27T09:14:16Z</dcterms:created>
  <dcterms:modified xsi:type="dcterms:W3CDTF">2026-06-04T04:29:22Z</dcterms:modified>
  <cp:category/>
</cp:coreProperties>
</file>